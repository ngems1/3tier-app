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a production-style three-tier web application (React front end, FastAPI back end, MySQL database) that I deploy on AWS in two different ways from the same code: EC2 with Packer AMIs, and ECS Fargate with containers. Everything is Terraform and GitHub 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numbers: four environments across two platforms, spread over three Availability Zones, and zero AWS access keys stored in GitHub, because the pipeline signs in with OIDC.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request path left to right: DNS and certificate in Route 53 and ACM, WAF and the public load balancer, the Nginx and React web tier, the FastAPI app tier behind an internal load balancer, and RDS MySQL. Only the public load balancer is reachable from the internet; everything else is in private subnets across three AZs.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two platforms: to compare VM-based and container-based deployment of the same app. Pushes deploy to the platform chosen by the DEPLOY_TARGET variable; each platform builds only what it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zero long-lived AWS credentials; production is protected by three independent controls, so a feature branch or an edited workflow still cannot deploy to prod.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Steps 1 to 4 happen on the pull request: CI, a read-only Terraform plan against every deployed environment, and a manual approval gate. Steps 5 to 7 run on main: build immutable artifacts tagged with the commit SHA, deploy dev with smoke tests, then prod after approval. Safety nets: automatic rollback, the destroy guard, and Slack notifications.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fixable CRITICAL vulnerability stops the release, whether it is in the code, a Docker image or an AMI. ECR also scans images on push, with a gate in the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notifications on the right are examples of the kinds of messages the pipeline and the alarm Lambda post to Slack.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Pick one or two of these to tell as a story, for example the TLS issue: the app could not verify the RDS certificate because the MySQL driver ignored the CA bundle when other SSL options were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Prepare the demo PR in advance so the checks are already green, and keep a finished Deploy EC2 run open in another tab in case the live run is slow.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roadmap to show the project keeps improving, then open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1.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slideLayout" Target="../slideLayouts/slideLayout1.xml"/><Relationship Id="rId1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slideLayout" Target="../slideLayouts/slideLayout1.xml"/><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p:bgPr>
    </p:bg>
    <p:spTree>
      <p:nvGrpSpPr>
        <p:cNvPr id="1" name=""/>
        <p:cNvGrpSpPr/>
        <p:nvPr/>
      </p:nvGrpSpPr>
      <p:grpSpPr>
        <a:xfrm>
          <a:off x="0" y="0"/>
          <a:ext cx="0" cy="0"/>
          <a:chOff x="0" y="0"/>
          <a:chExt cx="0" cy="0"/>
        </a:xfrm>
      </p:grpSpPr>
      <p:sp>
        <p:nvSpPr>
          <p:cNvPr id="2" name="Text 0"/>
          <p:cNvSpPr txBox="1"/>
          <p:nvPr/>
        </p:nvSpPr>
        <p:spPr>
          <a:xfrm>
            <a:off x="640080" y="1463040"/>
            <a:ext cx="6766560" cy="91440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AWS 3-Tier Tasks App</a:t>
            </a:r>
            <a:endParaRPr lang="en-US" sz="4400" dirty="0"/>
          </a:p>
        </p:txBody>
      </p:sp>
      <p:sp>
        <p:nvSpPr>
          <p:cNvPr id="3" name="Text 1"/>
          <p:cNvSpPr txBox="1"/>
          <p:nvPr/>
        </p:nvSpPr>
        <p:spPr>
          <a:xfrm>
            <a:off x="640080" y="2468880"/>
            <a:ext cx="6400800" cy="914400"/>
          </a:xfrm>
          <a:prstGeom prst="rect">
            <a:avLst/>
          </a:prstGeom>
          <a:noFill/>
          <a:ln/>
        </p:spPr>
        <p:txBody>
          <a:bodyPr wrap="square" lIns="0" tIns="0" rIns="0" bIns="0" rtlCol="0" anchor="ctr"/>
          <a:lstStyle/>
          <a:p>
            <a:pPr indent="0" marL="0">
              <a:buNone/>
            </a:pPr>
            <a:r>
              <a:rPr lang="en-US" sz="2000" dirty="0">
                <a:solidFill>
                  <a:srgbClr val="CBD5E1"/>
                </a:solidFill>
                <a:latin typeface="Calibri" pitchFamily="34" charset="0"/>
                <a:ea typeface="Calibri" pitchFamily="34" charset="-122"/>
                <a:cs typeface="Calibri" pitchFamily="34" charset="-120"/>
              </a:rPr>
              <a:t>One codebase, two platforms: EC2 and ECS Fargate — fully automated from pull request to production</a:t>
            </a:r>
            <a:endParaRPr lang="en-US" sz="2000" dirty="0"/>
          </a:p>
        </p:txBody>
      </p:sp>
      <p:sp>
        <p:nvSpPr>
          <p:cNvPr id="4" name="Text 2"/>
          <p:cNvSpPr txBox="1"/>
          <p:nvPr/>
        </p:nvSpPr>
        <p:spPr>
          <a:xfrm>
            <a:off x="640080" y="3566160"/>
            <a:ext cx="6400800" cy="457200"/>
          </a:xfrm>
          <a:prstGeom prst="rect">
            <a:avLst/>
          </a:prstGeom>
          <a:noFill/>
          <a:ln/>
        </p:spPr>
        <p:txBody>
          <a:bodyPr wrap="square" lIns="0" tIns="0" rIns="0" bIns="0" rtlCol="0" anchor="ctr"/>
          <a:lstStyle/>
          <a:p>
            <a:pPr indent="0" marL="0">
              <a:buNone/>
            </a:pPr>
            <a:r>
              <a:rPr lang="en-US" sz="1800" i="1" dirty="0">
                <a:solidFill>
                  <a:srgbClr val="F59E0B"/>
                </a:solidFill>
                <a:latin typeface="Calibri" pitchFamily="34" charset="0"/>
                <a:ea typeface="Calibri" pitchFamily="34" charset="-122"/>
                <a:cs typeface="Calibri" pitchFamily="34" charset="-120"/>
              </a:rPr>
              <a:t>Terraform · GitHub Actions · OIDC · DevSecOps</a:t>
            </a:r>
            <a:endParaRPr lang="en-US" sz="1800" dirty="0"/>
          </a:p>
        </p:txBody>
      </p:sp>
      <p:sp>
        <p:nvSpPr>
          <p:cNvPr id="5" name="Text 3"/>
          <p:cNvSpPr txBox="1"/>
          <p:nvPr/>
        </p:nvSpPr>
        <p:spPr>
          <a:xfrm>
            <a:off x="640080" y="5760720"/>
            <a:ext cx="6400800" cy="365760"/>
          </a:xfrm>
          <a:prstGeom prst="rect">
            <a:avLst/>
          </a:prstGeom>
          <a:noFill/>
          <a:ln/>
        </p:spPr>
        <p:txBody>
          <a:bodyPr wrap="square" lIns="0" tIns="0" rIns="0" bIns="0" rtlCol="0" anchor="ctr"/>
          <a:lstStyle/>
          <a:p>
            <a:pPr indent="0" marL="0">
              <a:buNone/>
            </a:pPr>
            <a:r>
              <a:rPr lang="en-US" sz="1400" dirty="0">
                <a:solidFill>
                  <a:srgbClr val="94A3B8"/>
                </a:solidFill>
                <a:latin typeface="Calibri" pitchFamily="34" charset="0"/>
                <a:ea typeface="Calibri" pitchFamily="34" charset="-122"/>
                <a:cs typeface="Calibri" pitchFamily="34" charset="-120"/>
              </a:rPr>
              <a:t>Sebastien Ngembou  ·  github.com/ngems1</a:t>
            </a:r>
            <a:endParaRPr lang="en-US" sz="1400" dirty="0"/>
          </a:p>
        </p:txBody>
      </p:sp>
      <p:sp>
        <p:nvSpPr>
          <p:cNvPr id="6" name="Shape 4"/>
          <p:cNvSpPr/>
          <p:nvPr/>
        </p:nvSpPr>
        <p:spPr>
          <a:xfrm>
            <a:off x="7863840" y="1371600"/>
            <a:ext cx="3657600" cy="1051560"/>
          </a:xfrm>
          <a:prstGeom prst="roundRect">
            <a:avLst>
              <a:gd name="adj" fmla="val 10435"/>
            </a:avLst>
          </a:prstGeom>
          <a:solidFill>
            <a:srgbClr val="1B2A41"/>
          </a:solidFill>
          <a:ln w="12700">
            <a:solidFill>
              <a:srgbClr val="1B2A41"/>
            </a:solidFill>
            <a:prstDash val="solid"/>
          </a:ln>
        </p:spPr>
      </p:sp>
      <p:sp>
        <p:nvSpPr>
          <p:cNvPr id="7" name="Shape 5"/>
          <p:cNvSpPr/>
          <p:nvPr/>
        </p:nvSpPr>
        <p:spPr>
          <a:xfrm>
            <a:off x="8092440" y="1554480"/>
            <a:ext cx="685800" cy="685800"/>
          </a:xfrm>
          <a:prstGeom prst="ellipse">
            <a:avLst/>
          </a:prstGeom>
          <a:solidFill>
            <a:srgbClr val="F59E0B"/>
          </a:solidFill>
          <a:ln w="12700">
            <a:solidFill>
              <a:srgbClr val="F59E0B"/>
            </a:solidFill>
            <a:prstDash val="solid"/>
          </a:ln>
        </p:spPr>
      </p:sp>
      <p:pic>
        <p:nvPicPr>
          <p:cNvPr id="8" name="Image 0" descr="preencoded.png">    </p:cNvPr>
          <p:cNvPicPr>
            <a:picLocks noChangeAspect="1"/>
          </p:cNvPicPr>
          <p:nvPr/>
        </p:nvPicPr>
        <p:blipFill>
          <a:blip r:embed="rId1"/>
          <a:stretch>
            <a:fillRect/>
          </a:stretch>
        </p:blipFill>
        <p:spPr>
          <a:xfrm>
            <a:off x="8263890" y="1725930"/>
            <a:ext cx="342900" cy="342900"/>
          </a:xfrm>
          <a:prstGeom prst="rect">
            <a:avLst/>
          </a:prstGeom>
        </p:spPr>
      </p:pic>
      <p:sp>
        <p:nvSpPr>
          <p:cNvPr id="9" name="Text 6"/>
          <p:cNvSpPr txBox="1"/>
          <p:nvPr/>
        </p:nvSpPr>
        <p:spPr>
          <a:xfrm>
            <a:off x="8961120" y="1508760"/>
            <a:ext cx="246888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Web tier</a:t>
            </a:r>
            <a:endParaRPr lang="en-US" sz="1800" dirty="0"/>
          </a:p>
          <a:p>
            <a:pPr indent="0" marL="0">
              <a:buNone/>
            </a:pPr>
            <a:r>
              <a:rPr lang="en-US" sz="1400" dirty="0">
                <a:solidFill>
                  <a:srgbClr val="CBD5E1"/>
                </a:solidFill>
                <a:latin typeface="Calibri" pitchFamily="34" charset="0"/>
                <a:ea typeface="Calibri" pitchFamily="34" charset="-122"/>
                <a:cs typeface="Calibri" pitchFamily="34" charset="-120"/>
              </a:rPr>
              <a:t>React + Nginx</a:t>
            </a:r>
            <a:endParaRPr lang="en-US" sz="1800" dirty="0"/>
          </a:p>
        </p:txBody>
      </p:sp>
      <p:sp>
        <p:nvSpPr>
          <p:cNvPr id="10" name="Shape 7"/>
          <p:cNvSpPr/>
          <p:nvPr/>
        </p:nvSpPr>
        <p:spPr>
          <a:xfrm>
            <a:off x="7863840" y="2697480"/>
            <a:ext cx="3657600" cy="1051560"/>
          </a:xfrm>
          <a:prstGeom prst="roundRect">
            <a:avLst>
              <a:gd name="adj" fmla="val 10435"/>
            </a:avLst>
          </a:prstGeom>
          <a:solidFill>
            <a:srgbClr val="1B2A41"/>
          </a:solidFill>
          <a:ln w="12700">
            <a:solidFill>
              <a:srgbClr val="1B2A41"/>
            </a:solidFill>
            <a:prstDash val="solid"/>
          </a:ln>
        </p:spPr>
      </p:sp>
      <p:sp>
        <p:nvSpPr>
          <p:cNvPr id="11" name="Shape 8"/>
          <p:cNvSpPr/>
          <p:nvPr/>
        </p:nvSpPr>
        <p:spPr>
          <a:xfrm>
            <a:off x="8092440" y="2880360"/>
            <a:ext cx="685800" cy="685800"/>
          </a:xfrm>
          <a:prstGeom prst="ellipse">
            <a:avLst/>
          </a:prstGeom>
          <a:solidFill>
            <a:srgbClr val="0E9F8E"/>
          </a:solidFill>
          <a:ln w="12700">
            <a:solidFill>
              <a:srgbClr val="0E9F8E"/>
            </a:solidFill>
            <a:prstDash val="solid"/>
          </a:ln>
        </p:spPr>
      </p:sp>
      <p:pic>
        <p:nvPicPr>
          <p:cNvPr id="12" name="Image 1" descr="preencoded.png">    </p:cNvPr>
          <p:cNvPicPr>
            <a:picLocks noChangeAspect="1"/>
          </p:cNvPicPr>
          <p:nvPr/>
        </p:nvPicPr>
        <p:blipFill>
          <a:blip r:embed="rId2"/>
          <a:stretch>
            <a:fillRect/>
          </a:stretch>
        </p:blipFill>
        <p:spPr>
          <a:xfrm>
            <a:off x="8263890" y="3051810"/>
            <a:ext cx="342900" cy="342900"/>
          </a:xfrm>
          <a:prstGeom prst="rect">
            <a:avLst/>
          </a:prstGeom>
        </p:spPr>
      </p:pic>
      <p:sp>
        <p:nvSpPr>
          <p:cNvPr id="13" name="Text 9"/>
          <p:cNvSpPr txBox="1"/>
          <p:nvPr/>
        </p:nvSpPr>
        <p:spPr>
          <a:xfrm>
            <a:off x="8961120" y="2834640"/>
            <a:ext cx="246888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App tier</a:t>
            </a:r>
            <a:endParaRPr lang="en-US" sz="1800" dirty="0"/>
          </a:p>
          <a:p>
            <a:pPr indent="0" marL="0">
              <a:buNone/>
            </a:pPr>
            <a:r>
              <a:rPr lang="en-US" sz="1400" dirty="0">
                <a:solidFill>
                  <a:srgbClr val="CBD5E1"/>
                </a:solidFill>
                <a:latin typeface="Calibri" pitchFamily="34" charset="0"/>
                <a:ea typeface="Calibri" pitchFamily="34" charset="-122"/>
                <a:cs typeface="Calibri" pitchFamily="34" charset="-120"/>
              </a:rPr>
              <a:t>FastAPI</a:t>
            </a:r>
            <a:endParaRPr lang="en-US" sz="1800" dirty="0"/>
          </a:p>
        </p:txBody>
      </p:sp>
      <p:sp>
        <p:nvSpPr>
          <p:cNvPr id="14" name="Shape 10"/>
          <p:cNvSpPr/>
          <p:nvPr/>
        </p:nvSpPr>
        <p:spPr>
          <a:xfrm>
            <a:off x="7863840" y="4023360"/>
            <a:ext cx="3657600" cy="1051560"/>
          </a:xfrm>
          <a:prstGeom prst="roundRect">
            <a:avLst>
              <a:gd name="adj" fmla="val 10435"/>
            </a:avLst>
          </a:prstGeom>
          <a:solidFill>
            <a:srgbClr val="1B2A41"/>
          </a:solidFill>
          <a:ln w="12700">
            <a:solidFill>
              <a:srgbClr val="1B2A41"/>
            </a:solidFill>
            <a:prstDash val="solid"/>
          </a:ln>
        </p:spPr>
      </p:sp>
      <p:sp>
        <p:nvSpPr>
          <p:cNvPr id="15" name="Shape 11"/>
          <p:cNvSpPr/>
          <p:nvPr/>
        </p:nvSpPr>
        <p:spPr>
          <a:xfrm>
            <a:off x="8092440" y="4206240"/>
            <a:ext cx="685800" cy="685800"/>
          </a:xfrm>
          <a:prstGeom prst="ellipse">
            <a:avLst/>
          </a:prstGeom>
          <a:solidFill>
            <a:srgbClr val="6366F1"/>
          </a:solidFill>
          <a:ln w="12700">
            <a:solidFill>
              <a:srgbClr val="6366F1"/>
            </a:solidFill>
            <a:prstDash val="solid"/>
          </a:ln>
        </p:spPr>
      </p:sp>
      <p:pic>
        <p:nvPicPr>
          <p:cNvPr id="16" name="Image 2" descr="preencoded.png">    </p:cNvPr>
          <p:cNvPicPr>
            <a:picLocks noChangeAspect="1"/>
          </p:cNvPicPr>
          <p:nvPr/>
        </p:nvPicPr>
        <p:blipFill>
          <a:blip r:embed="rId3"/>
          <a:stretch>
            <a:fillRect/>
          </a:stretch>
        </p:blipFill>
        <p:spPr>
          <a:xfrm>
            <a:off x="8263890" y="4377690"/>
            <a:ext cx="342900" cy="342900"/>
          </a:xfrm>
          <a:prstGeom prst="rect">
            <a:avLst/>
          </a:prstGeom>
        </p:spPr>
      </p:pic>
      <p:sp>
        <p:nvSpPr>
          <p:cNvPr id="17" name="Text 12"/>
          <p:cNvSpPr txBox="1"/>
          <p:nvPr/>
        </p:nvSpPr>
        <p:spPr>
          <a:xfrm>
            <a:off x="8961120" y="4160520"/>
            <a:ext cx="246888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Data tier</a:t>
            </a:r>
            <a:endParaRPr lang="en-US" sz="1800" dirty="0"/>
          </a:p>
          <a:p>
            <a:pPr indent="0" marL="0">
              <a:buNone/>
            </a:pPr>
            <a:r>
              <a:rPr lang="en-US" sz="1400" dirty="0">
                <a:solidFill>
                  <a:srgbClr val="CBD5E1"/>
                </a:solidFill>
                <a:latin typeface="Calibri" pitchFamily="34" charset="0"/>
                <a:ea typeface="Calibri" pitchFamily="34" charset="-122"/>
                <a:cs typeface="Calibri" pitchFamily="34" charset="-120"/>
              </a:rPr>
              <a:t>Amazon RDS MySQL</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3400" b="1" dirty="0">
                <a:solidFill>
                  <a:srgbClr val="0F1B2D"/>
                </a:solidFill>
                <a:latin typeface="Arial" pitchFamily="34" charset="0"/>
                <a:ea typeface="Arial" pitchFamily="34" charset="-122"/>
                <a:cs typeface="Arial" pitchFamily="34" charset="-120"/>
              </a:rPr>
              <a:t>The project at a glance</a:t>
            </a:r>
            <a:endParaRPr lang="en-US" sz="3400" dirty="0"/>
          </a:p>
        </p:txBody>
      </p:sp>
      <p:sp>
        <p:nvSpPr>
          <p:cNvPr id="3" name="Text 1"/>
          <p:cNvSpPr txBox="1"/>
          <p:nvPr/>
        </p:nvSpPr>
        <p:spPr>
          <a:xfrm>
            <a:off x="548640" y="1051560"/>
            <a:ext cx="11064240" cy="411480"/>
          </a:xfrm>
          <a:prstGeom prst="rect">
            <a:avLst/>
          </a:prstGeom>
          <a:noFill/>
          <a:ln/>
        </p:spPr>
        <p:txBody>
          <a:bodyPr wrap="square" lIns="0" tIns="0" rIns="0" bIns="0" rtlCol="0" anchor="ctr"/>
          <a:lstStyle/>
          <a:p>
            <a:pPr indent="0" marL="0">
              <a:buNone/>
            </a:pPr>
            <a:r>
              <a:rPr lang="en-US" sz="1600" dirty="0">
                <a:solidFill>
                  <a:srgbClr val="64748B"/>
                </a:solidFill>
                <a:latin typeface="Calibri" pitchFamily="34" charset="0"/>
                <a:ea typeface="Calibri" pitchFamily="34" charset="-122"/>
                <a:cs typeface="Calibri" pitchFamily="34" charset="-120"/>
              </a:rPr>
              <a:t>A production-style setup, not a demo: every step from code to prod is automated and gated</a:t>
            </a:r>
            <a:endParaRPr lang="en-US" sz="1600" dirty="0"/>
          </a:p>
        </p:txBody>
      </p:sp>
      <p:sp>
        <p:nvSpPr>
          <p:cNvPr id="4" name="Text 2"/>
          <p:cNvSpPr txBox="1"/>
          <p:nvPr/>
        </p:nvSpPr>
        <p:spPr>
          <a:xfrm>
            <a:off x="548640" y="1783080"/>
            <a:ext cx="11064240" cy="1188720"/>
          </a:xfrm>
          <a:prstGeom prst="rect">
            <a:avLst/>
          </a:prstGeom>
          <a:noFill/>
          <a:ln/>
        </p:spPr>
        <p:txBody>
          <a:bodyPr wrap="square" lIns="0" tIns="0" rIns="0" bIns="0" rtlCol="0" anchor="t"/>
          <a:lstStyle/>
          <a:p>
            <a:pPr indent="0" marL="0">
              <a:spcAft>
                <a:spcPts val="600"/>
              </a:spcAft>
              <a:buNone/>
            </a:pPr>
            <a:r>
              <a:rPr lang="en-US" sz="1800" b="1" dirty="0">
                <a:solidFill>
                  <a:srgbClr val="0F1B2D"/>
                </a:solidFill>
                <a:latin typeface="Calibri" pitchFamily="34" charset="0"/>
                <a:ea typeface="Calibri" pitchFamily="34" charset="-122"/>
                <a:cs typeface="Calibri" pitchFamily="34" charset="-120"/>
              </a:rPr>
              <a:t>What it is</a:t>
            </a:r>
            <a:endParaRPr lang="en-US" sz="1800" dirty="0"/>
          </a:p>
          <a:p>
            <a:pPr indent="0" marL="0">
              <a:spcAft>
                <a:spcPts val="600"/>
              </a:spcAft>
              <a:buNone/>
            </a:pPr>
            <a:r>
              <a:rPr lang="en-US" sz="1600" dirty="0">
                <a:solidFill>
                  <a:srgbClr val="1E293B"/>
                </a:solidFill>
                <a:latin typeface="Calibri" pitchFamily="34" charset="0"/>
                <a:ea typeface="Calibri" pitchFamily="34" charset="-122"/>
                <a:cs typeface="Calibri" pitchFamily="34" charset="-120"/>
              </a:rPr>
              <a:t>A task-management web app (React, FastAPI, MySQL) deployed on AWS with Terraform. Every change goes through a pull request, security gates, a dev deployment with smoke tests, and an approval before production.</a:t>
            </a:r>
            <a:endParaRPr lang="en-US" sz="1800" dirty="0"/>
          </a:p>
        </p:txBody>
      </p:sp>
      <p:sp>
        <p:nvSpPr>
          <p:cNvPr id="5" name="Shape 3"/>
          <p:cNvSpPr/>
          <p:nvPr/>
        </p:nvSpPr>
        <p:spPr>
          <a:xfrm>
            <a:off x="548640" y="3337560"/>
            <a:ext cx="2560320" cy="2651760"/>
          </a:xfrm>
          <a:prstGeom prst="roundRect">
            <a:avLst>
              <a:gd name="adj" fmla="val 4286"/>
            </a:avLst>
          </a:prstGeom>
          <a:solidFill>
            <a:srgbClr val="F1F5F9"/>
          </a:solidFill>
          <a:ln w="12700">
            <a:solidFill>
              <a:srgbClr val="F1F5F9"/>
            </a:solidFill>
            <a:prstDash val="solid"/>
          </a:ln>
        </p:spPr>
      </p:sp>
      <p:sp>
        <p:nvSpPr>
          <p:cNvPr id="6" name="Text 4"/>
          <p:cNvSpPr txBox="1"/>
          <p:nvPr/>
        </p:nvSpPr>
        <p:spPr>
          <a:xfrm>
            <a:off x="548640" y="3611880"/>
            <a:ext cx="2560320" cy="1188720"/>
          </a:xfrm>
          <a:prstGeom prst="rect">
            <a:avLst/>
          </a:prstGeom>
          <a:noFill/>
          <a:ln/>
        </p:spPr>
        <p:txBody>
          <a:bodyPr wrap="square" lIns="0" tIns="0" rIns="0" bIns="0" rtlCol="0" anchor="ctr"/>
          <a:lstStyle/>
          <a:p>
            <a:pPr algn="ctr" indent="0" marL="0">
              <a:buNone/>
            </a:pPr>
            <a:r>
              <a:rPr lang="en-US" sz="6600" b="1" dirty="0">
                <a:solidFill>
                  <a:srgbClr val="F59E0B"/>
                </a:solidFill>
                <a:latin typeface="Arial" pitchFamily="34" charset="0"/>
                <a:ea typeface="Arial" pitchFamily="34" charset="-122"/>
                <a:cs typeface="Arial" pitchFamily="34" charset="-120"/>
              </a:rPr>
              <a:t>4</a:t>
            </a:r>
            <a:endParaRPr lang="en-US" sz="6600" dirty="0"/>
          </a:p>
        </p:txBody>
      </p:sp>
      <p:sp>
        <p:nvSpPr>
          <p:cNvPr id="7" name="Text 5"/>
          <p:cNvSpPr txBox="1"/>
          <p:nvPr/>
        </p:nvSpPr>
        <p:spPr>
          <a:xfrm>
            <a:off x="731520" y="4846320"/>
            <a:ext cx="2194560" cy="411480"/>
          </a:xfrm>
          <a:prstGeom prst="rect">
            <a:avLst/>
          </a:prstGeom>
          <a:noFill/>
          <a:ln/>
        </p:spPr>
        <p:txBody>
          <a:bodyPr wrap="square" lIns="0" tIns="0" rIns="0" bIns="0" rtlCol="0" anchor="ctr"/>
          <a:lstStyle/>
          <a:p>
            <a:pPr algn="ctr" indent="0" marL="0">
              <a:buNone/>
            </a:pPr>
            <a:r>
              <a:rPr lang="en-US" sz="1800" b="1" dirty="0">
                <a:solidFill>
                  <a:srgbClr val="0F1B2D"/>
                </a:solidFill>
                <a:latin typeface="Calibri" pitchFamily="34" charset="0"/>
                <a:ea typeface="Calibri" pitchFamily="34" charset="-122"/>
                <a:cs typeface="Calibri" pitchFamily="34" charset="-120"/>
              </a:rPr>
              <a:t>environments</a:t>
            </a:r>
            <a:endParaRPr lang="en-US" sz="1800" dirty="0"/>
          </a:p>
        </p:txBody>
      </p:sp>
      <p:sp>
        <p:nvSpPr>
          <p:cNvPr id="8" name="Text 6"/>
          <p:cNvSpPr txBox="1"/>
          <p:nvPr/>
        </p:nvSpPr>
        <p:spPr>
          <a:xfrm>
            <a:off x="731520" y="5257800"/>
            <a:ext cx="2194560" cy="502920"/>
          </a:xfrm>
          <a:prstGeom prst="rect">
            <a:avLst/>
          </a:prstGeom>
          <a:noFill/>
          <a:ln/>
        </p:spPr>
        <p:txBody>
          <a:bodyPr wrap="square" lIns="0" tIns="0" rIns="0" bIns="0" rtlCol="0" anchor="ctr"/>
          <a:lstStyle/>
          <a:p>
            <a:pPr algn="ctr" indent="0" marL="0">
              <a:buNone/>
            </a:pPr>
            <a:r>
              <a:rPr lang="en-US" sz="1300" dirty="0">
                <a:solidFill>
                  <a:srgbClr val="64748B"/>
                </a:solidFill>
                <a:latin typeface="Calibri" pitchFamily="34" charset="0"/>
                <a:ea typeface="Calibri" pitchFamily="34" charset="-122"/>
                <a:cs typeface="Calibri" pitchFamily="34" charset="-120"/>
              </a:rPr>
              <a:t>EC2 dev / prod, ECS dev / prod</a:t>
            </a:r>
            <a:endParaRPr lang="en-US" sz="1300" dirty="0"/>
          </a:p>
        </p:txBody>
      </p:sp>
      <p:sp>
        <p:nvSpPr>
          <p:cNvPr id="9" name="Shape 7"/>
          <p:cNvSpPr/>
          <p:nvPr/>
        </p:nvSpPr>
        <p:spPr>
          <a:xfrm>
            <a:off x="3383280" y="3337560"/>
            <a:ext cx="2560320" cy="2651760"/>
          </a:xfrm>
          <a:prstGeom prst="roundRect">
            <a:avLst>
              <a:gd name="adj" fmla="val 4286"/>
            </a:avLst>
          </a:prstGeom>
          <a:solidFill>
            <a:srgbClr val="F1F5F9"/>
          </a:solidFill>
          <a:ln w="12700">
            <a:solidFill>
              <a:srgbClr val="F1F5F9"/>
            </a:solidFill>
            <a:prstDash val="solid"/>
          </a:ln>
        </p:spPr>
      </p:sp>
      <p:sp>
        <p:nvSpPr>
          <p:cNvPr id="10" name="Text 8"/>
          <p:cNvSpPr txBox="1"/>
          <p:nvPr/>
        </p:nvSpPr>
        <p:spPr>
          <a:xfrm>
            <a:off x="3383280" y="3611880"/>
            <a:ext cx="2560320" cy="1188720"/>
          </a:xfrm>
          <a:prstGeom prst="rect">
            <a:avLst/>
          </a:prstGeom>
          <a:noFill/>
          <a:ln/>
        </p:spPr>
        <p:txBody>
          <a:bodyPr wrap="square" lIns="0" tIns="0" rIns="0" bIns="0" rtlCol="0" anchor="ctr"/>
          <a:lstStyle/>
          <a:p>
            <a:pPr algn="ctr" indent="0" marL="0">
              <a:buNone/>
            </a:pPr>
            <a:r>
              <a:rPr lang="en-US" sz="6600" b="1" dirty="0">
                <a:solidFill>
                  <a:srgbClr val="F59E0B"/>
                </a:solidFill>
                <a:latin typeface="Arial" pitchFamily="34" charset="0"/>
                <a:ea typeface="Arial" pitchFamily="34" charset="-122"/>
                <a:cs typeface="Arial" pitchFamily="34" charset="-120"/>
              </a:rPr>
              <a:t>2</a:t>
            </a:r>
            <a:endParaRPr lang="en-US" sz="6600" dirty="0"/>
          </a:p>
        </p:txBody>
      </p:sp>
      <p:sp>
        <p:nvSpPr>
          <p:cNvPr id="11" name="Text 9"/>
          <p:cNvSpPr txBox="1"/>
          <p:nvPr/>
        </p:nvSpPr>
        <p:spPr>
          <a:xfrm>
            <a:off x="3566160" y="4846320"/>
            <a:ext cx="2194560" cy="411480"/>
          </a:xfrm>
          <a:prstGeom prst="rect">
            <a:avLst/>
          </a:prstGeom>
          <a:noFill/>
          <a:ln/>
        </p:spPr>
        <p:txBody>
          <a:bodyPr wrap="square" lIns="0" tIns="0" rIns="0" bIns="0" rtlCol="0" anchor="ctr"/>
          <a:lstStyle/>
          <a:p>
            <a:pPr algn="ctr" indent="0" marL="0">
              <a:buNone/>
            </a:pPr>
            <a:r>
              <a:rPr lang="en-US" sz="1800" b="1" dirty="0">
                <a:solidFill>
                  <a:srgbClr val="0F1B2D"/>
                </a:solidFill>
                <a:latin typeface="Calibri" pitchFamily="34" charset="0"/>
                <a:ea typeface="Calibri" pitchFamily="34" charset="-122"/>
                <a:cs typeface="Calibri" pitchFamily="34" charset="-120"/>
              </a:rPr>
              <a:t>platforms</a:t>
            </a:r>
            <a:endParaRPr lang="en-US" sz="1800" dirty="0"/>
          </a:p>
        </p:txBody>
      </p:sp>
      <p:sp>
        <p:nvSpPr>
          <p:cNvPr id="12" name="Text 10"/>
          <p:cNvSpPr txBox="1"/>
          <p:nvPr/>
        </p:nvSpPr>
        <p:spPr>
          <a:xfrm>
            <a:off x="3566160" y="5257800"/>
            <a:ext cx="2194560" cy="502920"/>
          </a:xfrm>
          <a:prstGeom prst="rect">
            <a:avLst/>
          </a:prstGeom>
          <a:noFill/>
          <a:ln/>
        </p:spPr>
        <p:txBody>
          <a:bodyPr wrap="square" lIns="0" tIns="0" rIns="0" bIns="0" rtlCol="0" anchor="ctr"/>
          <a:lstStyle/>
          <a:p>
            <a:pPr algn="ctr" indent="0" marL="0">
              <a:buNone/>
            </a:pPr>
            <a:r>
              <a:rPr lang="en-US" sz="1300" dirty="0">
                <a:solidFill>
                  <a:srgbClr val="64748B"/>
                </a:solidFill>
                <a:latin typeface="Calibri" pitchFamily="34" charset="0"/>
                <a:ea typeface="Calibri" pitchFamily="34" charset="-122"/>
                <a:cs typeface="Calibri" pitchFamily="34" charset="-120"/>
              </a:rPr>
              <a:t>EC2 Auto Scaling and ECS Fargate</a:t>
            </a:r>
            <a:endParaRPr lang="en-US" sz="1300" dirty="0"/>
          </a:p>
        </p:txBody>
      </p:sp>
      <p:sp>
        <p:nvSpPr>
          <p:cNvPr id="13" name="Shape 11"/>
          <p:cNvSpPr/>
          <p:nvPr/>
        </p:nvSpPr>
        <p:spPr>
          <a:xfrm>
            <a:off x="6217920" y="3337560"/>
            <a:ext cx="2560320" cy="2651760"/>
          </a:xfrm>
          <a:prstGeom prst="roundRect">
            <a:avLst>
              <a:gd name="adj" fmla="val 4286"/>
            </a:avLst>
          </a:prstGeom>
          <a:solidFill>
            <a:srgbClr val="F1F5F9"/>
          </a:solidFill>
          <a:ln w="12700">
            <a:solidFill>
              <a:srgbClr val="F1F5F9"/>
            </a:solidFill>
            <a:prstDash val="solid"/>
          </a:ln>
        </p:spPr>
      </p:sp>
      <p:sp>
        <p:nvSpPr>
          <p:cNvPr id="14" name="Text 12"/>
          <p:cNvSpPr txBox="1"/>
          <p:nvPr/>
        </p:nvSpPr>
        <p:spPr>
          <a:xfrm>
            <a:off x="6217920" y="3611880"/>
            <a:ext cx="2560320" cy="1188720"/>
          </a:xfrm>
          <a:prstGeom prst="rect">
            <a:avLst/>
          </a:prstGeom>
          <a:noFill/>
          <a:ln/>
        </p:spPr>
        <p:txBody>
          <a:bodyPr wrap="square" lIns="0" tIns="0" rIns="0" bIns="0" rtlCol="0" anchor="ctr"/>
          <a:lstStyle/>
          <a:p>
            <a:pPr algn="ctr" indent="0" marL="0">
              <a:buNone/>
            </a:pPr>
            <a:r>
              <a:rPr lang="en-US" sz="6600" b="1" dirty="0">
                <a:solidFill>
                  <a:srgbClr val="F59E0B"/>
                </a:solidFill>
                <a:latin typeface="Arial" pitchFamily="34" charset="0"/>
                <a:ea typeface="Arial" pitchFamily="34" charset="-122"/>
                <a:cs typeface="Arial" pitchFamily="34" charset="-120"/>
              </a:rPr>
              <a:t>3</a:t>
            </a:r>
            <a:endParaRPr lang="en-US" sz="6600" dirty="0"/>
          </a:p>
        </p:txBody>
      </p:sp>
      <p:sp>
        <p:nvSpPr>
          <p:cNvPr id="15" name="Text 13"/>
          <p:cNvSpPr txBox="1"/>
          <p:nvPr/>
        </p:nvSpPr>
        <p:spPr>
          <a:xfrm>
            <a:off x="6400800" y="4846320"/>
            <a:ext cx="2194560" cy="411480"/>
          </a:xfrm>
          <a:prstGeom prst="rect">
            <a:avLst/>
          </a:prstGeom>
          <a:noFill/>
          <a:ln/>
        </p:spPr>
        <p:txBody>
          <a:bodyPr wrap="square" lIns="0" tIns="0" rIns="0" bIns="0" rtlCol="0" anchor="ctr"/>
          <a:lstStyle/>
          <a:p>
            <a:pPr algn="ctr" indent="0" marL="0">
              <a:buNone/>
            </a:pPr>
            <a:r>
              <a:rPr lang="en-US" sz="1800" b="1" dirty="0">
                <a:solidFill>
                  <a:srgbClr val="0F1B2D"/>
                </a:solidFill>
                <a:latin typeface="Calibri" pitchFamily="34" charset="0"/>
                <a:ea typeface="Calibri" pitchFamily="34" charset="-122"/>
                <a:cs typeface="Calibri" pitchFamily="34" charset="-120"/>
              </a:rPr>
              <a:t>Availability Zones</a:t>
            </a:r>
            <a:endParaRPr lang="en-US" sz="1800" dirty="0"/>
          </a:p>
        </p:txBody>
      </p:sp>
      <p:sp>
        <p:nvSpPr>
          <p:cNvPr id="16" name="Text 14"/>
          <p:cNvSpPr txBox="1"/>
          <p:nvPr/>
        </p:nvSpPr>
        <p:spPr>
          <a:xfrm>
            <a:off x="6400800" y="5257800"/>
            <a:ext cx="2194560" cy="502920"/>
          </a:xfrm>
          <a:prstGeom prst="rect">
            <a:avLst/>
          </a:prstGeom>
          <a:noFill/>
          <a:ln/>
        </p:spPr>
        <p:txBody>
          <a:bodyPr wrap="square" lIns="0" tIns="0" rIns="0" bIns="0" rtlCol="0" anchor="ctr"/>
          <a:lstStyle/>
          <a:p>
            <a:pPr algn="ctr" indent="0" marL="0">
              <a:buNone/>
            </a:pPr>
            <a:r>
              <a:rPr lang="en-US" sz="1300" dirty="0">
                <a:solidFill>
                  <a:srgbClr val="64748B"/>
                </a:solidFill>
                <a:latin typeface="Calibri" pitchFamily="34" charset="0"/>
                <a:ea typeface="Calibri" pitchFamily="34" charset="-122"/>
                <a:cs typeface="Calibri" pitchFamily="34" charset="-120"/>
              </a:rPr>
              <a:t>per environment</a:t>
            </a:r>
            <a:endParaRPr lang="en-US" sz="1300" dirty="0"/>
          </a:p>
        </p:txBody>
      </p:sp>
      <p:sp>
        <p:nvSpPr>
          <p:cNvPr id="17" name="Shape 15"/>
          <p:cNvSpPr/>
          <p:nvPr/>
        </p:nvSpPr>
        <p:spPr>
          <a:xfrm>
            <a:off x="9052560" y="3337560"/>
            <a:ext cx="2560320" cy="2651760"/>
          </a:xfrm>
          <a:prstGeom prst="roundRect">
            <a:avLst>
              <a:gd name="adj" fmla="val 4286"/>
            </a:avLst>
          </a:prstGeom>
          <a:solidFill>
            <a:srgbClr val="F1F5F9"/>
          </a:solidFill>
          <a:ln w="12700">
            <a:solidFill>
              <a:srgbClr val="F1F5F9"/>
            </a:solidFill>
            <a:prstDash val="solid"/>
          </a:ln>
        </p:spPr>
      </p:sp>
      <p:sp>
        <p:nvSpPr>
          <p:cNvPr id="18" name="Text 16"/>
          <p:cNvSpPr txBox="1"/>
          <p:nvPr/>
        </p:nvSpPr>
        <p:spPr>
          <a:xfrm>
            <a:off x="9052560" y="3611880"/>
            <a:ext cx="2560320" cy="1188720"/>
          </a:xfrm>
          <a:prstGeom prst="rect">
            <a:avLst/>
          </a:prstGeom>
          <a:noFill/>
          <a:ln/>
        </p:spPr>
        <p:txBody>
          <a:bodyPr wrap="square" lIns="0" tIns="0" rIns="0" bIns="0" rtlCol="0" anchor="ctr"/>
          <a:lstStyle/>
          <a:p>
            <a:pPr algn="ctr" indent="0" marL="0">
              <a:buNone/>
            </a:pPr>
            <a:r>
              <a:rPr lang="en-US" sz="6600" b="1" dirty="0">
                <a:solidFill>
                  <a:srgbClr val="0E9F8E"/>
                </a:solidFill>
                <a:latin typeface="Arial" pitchFamily="34" charset="0"/>
                <a:ea typeface="Arial" pitchFamily="34" charset="-122"/>
                <a:cs typeface="Arial" pitchFamily="34" charset="-120"/>
              </a:rPr>
              <a:t>0</a:t>
            </a:r>
            <a:endParaRPr lang="en-US" sz="6600" dirty="0"/>
          </a:p>
        </p:txBody>
      </p:sp>
      <p:sp>
        <p:nvSpPr>
          <p:cNvPr id="19" name="Text 17"/>
          <p:cNvSpPr txBox="1"/>
          <p:nvPr/>
        </p:nvSpPr>
        <p:spPr>
          <a:xfrm>
            <a:off x="9235440" y="4846320"/>
            <a:ext cx="2194560" cy="411480"/>
          </a:xfrm>
          <a:prstGeom prst="rect">
            <a:avLst/>
          </a:prstGeom>
          <a:noFill/>
          <a:ln/>
        </p:spPr>
        <p:txBody>
          <a:bodyPr wrap="square" lIns="0" tIns="0" rIns="0" bIns="0" rtlCol="0" anchor="ctr"/>
          <a:lstStyle/>
          <a:p>
            <a:pPr algn="ctr" indent="0" marL="0">
              <a:buNone/>
            </a:pPr>
            <a:r>
              <a:rPr lang="en-US" sz="1800" b="1" dirty="0">
                <a:solidFill>
                  <a:srgbClr val="0F1B2D"/>
                </a:solidFill>
                <a:latin typeface="Calibri" pitchFamily="34" charset="0"/>
                <a:ea typeface="Calibri" pitchFamily="34" charset="-122"/>
                <a:cs typeface="Calibri" pitchFamily="34" charset="-120"/>
              </a:rPr>
              <a:t>stored AWS keys</a:t>
            </a:r>
            <a:endParaRPr lang="en-US" sz="1800" dirty="0"/>
          </a:p>
        </p:txBody>
      </p:sp>
      <p:sp>
        <p:nvSpPr>
          <p:cNvPr id="20" name="Text 18"/>
          <p:cNvSpPr txBox="1"/>
          <p:nvPr/>
        </p:nvSpPr>
        <p:spPr>
          <a:xfrm>
            <a:off x="9235440" y="5257800"/>
            <a:ext cx="2194560" cy="502920"/>
          </a:xfrm>
          <a:prstGeom prst="rect">
            <a:avLst/>
          </a:prstGeom>
          <a:noFill/>
          <a:ln/>
        </p:spPr>
        <p:txBody>
          <a:bodyPr wrap="square" lIns="0" tIns="0" rIns="0" bIns="0" rtlCol="0" anchor="ctr"/>
          <a:lstStyle/>
          <a:p>
            <a:pPr algn="ctr" indent="0" marL="0">
              <a:buNone/>
            </a:pPr>
            <a:r>
              <a:rPr lang="en-US" sz="1300" dirty="0">
                <a:solidFill>
                  <a:srgbClr val="64748B"/>
                </a:solidFill>
                <a:latin typeface="Calibri" pitchFamily="34" charset="0"/>
                <a:ea typeface="Calibri" pitchFamily="34" charset="-122"/>
                <a:cs typeface="Calibri" pitchFamily="34" charset="-120"/>
              </a:rPr>
              <a:t>GitHub OIDC only</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3400" b="1" dirty="0">
                <a:solidFill>
                  <a:srgbClr val="0F1B2D"/>
                </a:solidFill>
                <a:latin typeface="Arial" pitchFamily="34" charset="0"/>
                <a:ea typeface="Arial" pitchFamily="34" charset="-122"/>
                <a:cs typeface="Arial" pitchFamily="34" charset="-120"/>
              </a:rPr>
              <a:t>Architecture</a:t>
            </a:r>
            <a:endParaRPr lang="en-US" sz="3400" dirty="0"/>
          </a:p>
        </p:txBody>
      </p:sp>
      <p:sp>
        <p:nvSpPr>
          <p:cNvPr id="3" name="Text 1"/>
          <p:cNvSpPr txBox="1"/>
          <p:nvPr/>
        </p:nvSpPr>
        <p:spPr>
          <a:xfrm>
            <a:off x="548640" y="1051560"/>
            <a:ext cx="11064240" cy="411480"/>
          </a:xfrm>
          <a:prstGeom prst="rect">
            <a:avLst/>
          </a:prstGeom>
          <a:noFill/>
          <a:ln/>
        </p:spPr>
        <p:txBody>
          <a:bodyPr wrap="square" lIns="0" tIns="0" rIns="0" bIns="0" rtlCol="0" anchor="ctr"/>
          <a:lstStyle/>
          <a:p>
            <a:pPr indent="0" marL="0">
              <a:buNone/>
            </a:pPr>
            <a:r>
              <a:rPr lang="en-US" sz="1600" dirty="0">
                <a:solidFill>
                  <a:srgbClr val="64748B"/>
                </a:solidFill>
                <a:latin typeface="Calibri" pitchFamily="34" charset="0"/>
                <a:ea typeface="Calibri" pitchFamily="34" charset="-122"/>
                <a:cs typeface="Calibri" pitchFamily="34" charset="-120"/>
              </a:rPr>
              <a:t>Request path for one environment (EC2 shown; ECS uses the same path with Fargate tasks)</a:t>
            </a:r>
            <a:endParaRPr lang="en-US" sz="1600" dirty="0"/>
          </a:p>
        </p:txBody>
      </p:sp>
      <p:sp>
        <p:nvSpPr>
          <p:cNvPr id="4" name="Shape 2"/>
          <p:cNvSpPr/>
          <p:nvPr/>
        </p:nvSpPr>
        <p:spPr>
          <a:xfrm>
            <a:off x="548640" y="1874520"/>
            <a:ext cx="1600200" cy="1920240"/>
          </a:xfrm>
          <a:prstGeom prst="roundRect">
            <a:avLst>
              <a:gd name="adj" fmla="val 6857"/>
            </a:avLst>
          </a:prstGeom>
          <a:solidFill>
            <a:srgbClr val="F1F5F9"/>
          </a:solidFill>
          <a:ln w="12700">
            <a:solidFill>
              <a:srgbClr val="F1F5F9"/>
            </a:solidFill>
            <a:prstDash val="solid"/>
          </a:ln>
        </p:spPr>
      </p:sp>
      <p:sp>
        <p:nvSpPr>
          <p:cNvPr id="5" name="Shape 3"/>
          <p:cNvSpPr/>
          <p:nvPr/>
        </p:nvSpPr>
        <p:spPr>
          <a:xfrm>
            <a:off x="2194560" y="2715768"/>
            <a:ext cx="237744" cy="237744"/>
          </a:xfrm>
          <a:prstGeom prst="rightArrow">
            <a:avLst/>
          </a:prstGeom>
          <a:solidFill>
            <a:srgbClr val="CBD5E1"/>
          </a:solidFill>
          <a:ln w="12700">
            <a:solidFill>
              <a:srgbClr val="CBD5E1"/>
            </a:solidFill>
            <a:prstDash val="solid"/>
          </a:ln>
        </p:spPr>
      </p:sp>
      <p:sp>
        <p:nvSpPr>
          <p:cNvPr id="6" name="Shape 4"/>
          <p:cNvSpPr/>
          <p:nvPr/>
        </p:nvSpPr>
        <p:spPr>
          <a:xfrm>
            <a:off x="2478024" y="1874520"/>
            <a:ext cx="1600200" cy="1920240"/>
          </a:xfrm>
          <a:prstGeom prst="roundRect">
            <a:avLst>
              <a:gd name="adj" fmla="val 6857"/>
            </a:avLst>
          </a:prstGeom>
          <a:solidFill>
            <a:srgbClr val="F1F5F9"/>
          </a:solidFill>
          <a:ln w="12700">
            <a:solidFill>
              <a:srgbClr val="F1F5F9"/>
            </a:solidFill>
            <a:prstDash val="solid"/>
          </a:ln>
        </p:spPr>
      </p:sp>
      <p:sp>
        <p:nvSpPr>
          <p:cNvPr id="7" name="Shape 5"/>
          <p:cNvSpPr/>
          <p:nvPr/>
        </p:nvSpPr>
        <p:spPr>
          <a:xfrm>
            <a:off x="4123944" y="2715768"/>
            <a:ext cx="237744" cy="237744"/>
          </a:xfrm>
          <a:prstGeom prst="rightArrow">
            <a:avLst/>
          </a:prstGeom>
          <a:solidFill>
            <a:srgbClr val="CBD5E1"/>
          </a:solidFill>
          <a:ln w="12700">
            <a:solidFill>
              <a:srgbClr val="CBD5E1"/>
            </a:solidFill>
            <a:prstDash val="solid"/>
          </a:ln>
        </p:spPr>
      </p:sp>
      <p:sp>
        <p:nvSpPr>
          <p:cNvPr id="8" name="Shape 6"/>
          <p:cNvSpPr/>
          <p:nvPr/>
        </p:nvSpPr>
        <p:spPr>
          <a:xfrm>
            <a:off x="4407408" y="1874520"/>
            <a:ext cx="1600200" cy="1920240"/>
          </a:xfrm>
          <a:prstGeom prst="roundRect">
            <a:avLst>
              <a:gd name="adj" fmla="val 6857"/>
            </a:avLst>
          </a:prstGeom>
          <a:solidFill>
            <a:srgbClr val="F1F5F9"/>
          </a:solidFill>
          <a:ln w="12700">
            <a:solidFill>
              <a:srgbClr val="F1F5F9"/>
            </a:solidFill>
            <a:prstDash val="solid"/>
          </a:ln>
        </p:spPr>
      </p:sp>
      <p:sp>
        <p:nvSpPr>
          <p:cNvPr id="9" name="Shape 7"/>
          <p:cNvSpPr/>
          <p:nvPr/>
        </p:nvSpPr>
        <p:spPr>
          <a:xfrm>
            <a:off x="6053328" y="2715768"/>
            <a:ext cx="237744" cy="237744"/>
          </a:xfrm>
          <a:prstGeom prst="rightArrow">
            <a:avLst/>
          </a:prstGeom>
          <a:solidFill>
            <a:srgbClr val="CBD5E1"/>
          </a:solidFill>
          <a:ln w="12700">
            <a:solidFill>
              <a:srgbClr val="CBD5E1"/>
            </a:solidFill>
            <a:prstDash val="solid"/>
          </a:ln>
        </p:spPr>
      </p:sp>
      <p:sp>
        <p:nvSpPr>
          <p:cNvPr id="10" name="Shape 8"/>
          <p:cNvSpPr/>
          <p:nvPr/>
        </p:nvSpPr>
        <p:spPr>
          <a:xfrm>
            <a:off x="6336792" y="1874520"/>
            <a:ext cx="1600200" cy="1920240"/>
          </a:xfrm>
          <a:prstGeom prst="roundRect">
            <a:avLst>
              <a:gd name="adj" fmla="val 6857"/>
            </a:avLst>
          </a:prstGeom>
          <a:solidFill>
            <a:srgbClr val="F1F5F9"/>
          </a:solidFill>
          <a:ln w="12700">
            <a:solidFill>
              <a:srgbClr val="F1F5F9"/>
            </a:solidFill>
            <a:prstDash val="solid"/>
          </a:ln>
        </p:spPr>
      </p:sp>
      <p:sp>
        <p:nvSpPr>
          <p:cNvPr id="11" name="Shape 9"/>
          <p:cNvSpPr/>
          <p:nvPr/>
        </p:nvSpPr>
        <p:spPr>
          <a:xfrm>
            <a:off x="7982712" y="2715768"/>
            <a:ext cx="237744" cy="237744"/>
          </a:xfrm>
          <a:prstGeom prst="rightArrow">
            <a:avLst/>
          </a:prstGeom>
          <a:solidFill>
            <a:srgbClr val="CBD5E1"/>
          </a:solidFill>
          <a:ln w="12700">
            <a:solidFill>
              <a:srgbClr val="CBD5E1"/>
            </a:solidFill>
            <a:prstDash val="solid"/>
          </a:ln>
        </p:spPr>
      </p:sp>
      <p:sp>
        <p:nvSpPr>
          <p:cNvPr id="12" name="Shape 10"/>
          <p:cNvSpPr/>
          <p:nvPr/>
        </p:nvSpPr>
        <p:spPr>
          <a:xfrm>
            <a:off x="8266176" y="1874520"/>
            <a:ext cx="1600200" cy="1920240"/>
          </a:xfrm>
          <a:prstGeom prst="roundRect">
            <a:avLst>
              <a:gd name="adj" fmla="val 6857"/>
            </a:avLst>
          </a:prstGeom>
          <a:solidFill>
            <a:srgbClr val="F1F5F9"/>
          </a:solidFill>
          <a:ln w="12700">
            <a:solidFill>
              <a:srgbClr val="F1F5F9"/>
            </a:solidFill>
            <a:prstDash val="solid"/>
          </a:ln>
        </p:spPr>
      </p:sp>
      <p:sp>
        <p:nvSpPr>
          <p:cNvPr id="13" name="Shape 11"/>
          <p:cNvSpPr/>
          <p:nvPr/>
        </p:nvSpPr>
        <p:spPr>
          <a:xfrm>
            <a:off x="9912096" y="2715768"/>
            <a:ext cx="237744" cy="237744"/>
          </a:xfrm>
          <a:prstGeom prst="rightArrow">
            <a:avLst/>
          </a:prstGeom>
          <a:solidFill>
            <a:srgbClr val="CBD5E1"/>
          </a:solidFill>
          <a:ln w="12700">
            <a:solidFill>
              <a:srgbClr val="CBD5E1"/>
            </a:solidFill>
            <a:prstDash val="solid"/>
          </a:ln>
        </p:spPr>
      </p:sp>
      <p:sp>
        <p:nvSpPr>
          <p:cNvPr id="14" name="Shape 12"/>
          <p:cNvSpPr/>
          <p:nvPr/>
        </p:nvSpPr>
        <p:spPr>
          <a:xfrm>
            <a:off x="10195560" y="1874520"/>
            <a:ext cx="1600200" cy="1920240"/>
          </a:xfrm>
          <a:prstGeom prst="roundRect">
            <a:avLst>
              <a:gd name="adj" fmla="val 6857"/>
            </a:avLst>
          </a:prstGeom>
          <a:solidFill>
            <a:srgbClr val="F1F5F9"/>
          </a:solidFill>
          <a:ln w="12700">
            <a:solidFill>
              <a:srgbClr val="F1F5F9"/>
            </a:solidFill>
            <a:prstDash val="solid"/>
          </a:ln>
        </p:spPr>
      </p:sp>
      <p:sp>
        <p:nvSpPr>
          <p:cNvPr id="15" name="Shape 13"/>
          <p:cNvSpPr/>
          <p:nvPr/>
        </p:nvSpPr>
        <p:spPr>
          <a:xfrm>
            <a:off x="1028700" y="2103120"/>
            <a:ext cx="640080" cy="640080"/>
          </a:xfrm>
          <a:prstGeom prst="ellipse">
            <a:avLst/>
          </a:prstGeom>
          <a:solidFill>
            <a:srgbClr val="64748B"/>
          </a:solidFill>
          <a:ln w="12700">
            <a:solidFill>
              <a:srgbClr val="64748B"/>
            </a:solidFill>
            <a:prstDash val="solid"/>
          </a:ln>
        </p:spPr>
      </p:sp>
      <p:pic>
        <p:nvPicPr>
          <p:cNvPr id="16" name="Image 0" descr="preencoded.png">    </p:cNvPr>
          <p:cNvPicPr>
            <a:picLocks noChangeAspect="1"/>
          </p:cNvPicPr>
          <p:nvPr/>
        </p:nvPicPr>
        <p:blipFill>
          <a:blip r:embed="rId1"/>
          <a:stretch>
            <a:fillRect/>
          </a:stretch>
        </p:blipFill>
        <p:spPr>
          <a:xfrm>
            <a:off x="1188720" y="2263140"/>
            <a:ext cx="320040" cy="320040"/>
          </a:xfrm>
          <a:prstGeom prst="rect">
            <a:avLst/>
          </a:prstGeom>
        </p:spPr>
      </p:pic>
      <p:sp>
        <p:nvSpPr>
          <p:cNvPr id="17" name="Text 14"/>
          <p:cNvSpPr txBox="1"/>
          <p:nvPr/>
        </p:nvSpPr>
        <p:spPr>
          <a:xfrm>
            <a:off x="621792" y="2834640"/>
            <a:ext cx="1453896" cy="457200"/>
          </a:xfrm>
          <a:prstGeom prst="rect">
            <a:avLst/>
          </a:prstGeom>
          <a:noFill/>
          <a:ln/>
        </p:spPr>
        <p:txBody>
          <a:bodyPr wrap="square" lIns="0" tIns="0" rIns="0" bIns="0" rtlCol="0" anchor="ctr"/>
          <a:lstStyle/>
          <a:p>
            <a:pPr algn="ctr" indent="0" marL="0">
              <a:buNone/>
            </a:pPr>
            <a:r>
              <a:rPr lang="en-US" sz="1500" b="1" dirty="0">
                <a:solidFill>
                  <a:srgbClr val="0F1B2D"/>
                </a:solidFill>
                <a:latin typeface="Calibri" pitchFamily="34" charset="0"/>
                <a:ea typeface="Calibri" pitchFamily="34" charset="-122"/>
                <a:cs typeface="Calibri" pitchFamily="34" charset="-120"/>
              </a:rPr>
              <a:t>Users</a:t>
            </a:r>
            <a:endParaRPr lang="en-US" sz="1500" dirty="0"/>
          </a:p>
        </p:txBody>
      </p:sp>
      <p:sp>
        <p:nvSpPr>
          <p:cNvPr id="18" name="Text 15"/>
          <p:cNvSpPr txBox="1"/>
          <p:nvPr/>
        </p:nvSpPr>
        <p:spPr>
          <a:xfrm>
            <a:off x="621792" y="3246120"/>
            <a:ext cx="1453896" cy="411480"/>
          </a:xfrm>
          <a:prstGeom prst="rect">
            <a:avLst/>
          </a:prstGeom>
          <a:noFill/>
          <a:ln/>
        </p:spPr>
        <p:txBody>
          <a:bodyPr wrap="square" lIns="0" tIns="0" rIns="0" bIns="0" rtlCol="0" anchor="t"/>
          <a:lstStyle/>
          <a:p>
            <a:pPr algn="ctr" indent="0" marL="0">
              <a:buNone/>
            </a:pPr>
            <a:r>
              <a:rPr lang="en-US" sz="1200" dirty="0">
                <a:solidFill>
                  <a:srgbClr val="64748B"/>
                </a:solidFill>
                <a:latin typeface="Calibri" pitchFamily="34" charset="0"/>
                <a:ea typeface="Calibri" pitchFamily="34" charset="-122"/>
                <a:cs typeface="Calibri" pitchFamily="34" charset="-120"/>
              </a:rPr>
              <a:t>Browser</a:t>
            </a:r>
            <a:endParaRPr lang="en-US" sz="1200" dirty="0"/>
          </a:p>
        </p:txBody>
      </p:sp>
      <p:sp>
        <p:nvSpPr>
          <p:cNvPr id="19" name="Shape 16"/>
          <p:cNvSpPr/>
          <p:nvPr/>
        </p:nvSpPr>
        <p:spPr>
          <a:xfrm>
            <a:off x="2958084" y="2103120"/>
            <a:ext cx="640080" cy="640080"/>
          </a:xfrm>
          <a:prstGeom prst="ellipse">
            <a:avLst/>
          </a:prstGeom>
          <a:solidFill>
            <a:srgbClr val="6366F1"/>
          </a:solidFill>
          <a:ln w="12700">
            <a:solidFill>
              <a:srgbClr val="6366F1"/>
            </a:solidFill>
            <a:prstDash val="solid"/>
          </a:ln>
        </p:spPr>
      </p:sp>
      <p:pic>
        <p:nvPicPr>
          <p:cNvPr id="20" name="Image 1" descr="preencoded.png">    </p:cNvPr>
          <p:cNvPicPr>
            <a:picLocks noChangeAspect="1"/>
          </p:cNvPicPr>
          <p:nvPr/>
        </p:nvPicPr>
        <p:blipFill>
          <a:blip r:embed="rId2"/>
          <a:stretch>
            <a:fillRect/>
          </a:stretch>
        </p:blipFill>
        <p:spPr>
          <a:xfrm>
            <a:off x="3118104" y="2263140"/>
            <a:ext cx="320040" cy="320040"/>
          </a:xfrm>
          <a:prstGeom prst="rect">
            <a:avLst/>
          </a:prstGeom>
        </p:spPr>
      </p:pic>
      <p:sp>
        <p:nvSpPr>
          <p:cNvPr id="21" name="Text 17"/>
          <p:cNvSpPr txBox="1"/>
          <p:nvPr/>
        </p:nvSpPr>
        <p:spPr>
          <a:xfrm>
            <a:off x="2551176" y="2834640"/>
            <a:ext cx="1453896" cy="457200"/>
          </a:xfrm>
          <a:prstGeom prst="rect">
            <a:avLst/>
          </a:prstGeom>
          <a:noFill/>
          <a:ln/>
        </p:spPr>
        <p:txBody>
          <a:bodyPr wrap="square" lIns="0" tIns="0" rIns="0" bIns="0" rtlCol="0" anchor="ctr"/>
          <a:lstStyle/>
          <a:p>
            <a:pPr algn="ctr" indent="0" marL="0">
              <a:buNone/>
            </a:pPr>
            <a:r>
              <a:rPr lang="en-US" sz="1500" b="1" dirty="0">
                <a:solidFill>
                  <a:srgbClr val="0F1B2D"/>
                </a:solidFill>
                <a:latin typeface="Calibri" pitchFamily="34" charset="0"/>
                <a:ea typeface="Calibri" pitchFamily="34" charset="-122"/>
                <a:cs typeface="Calibri" pitchFamily="34" charset="-120"/>
              </a:rPr>
              <a:t>Route 53 + ACM</a:t>
            </a:r>
            <a:endParaRPr lang="en-US" sz="1500" dirty="0"/>
          </a:p>
        </p:txBody>
      </p:sp>
      <p:sp>
        <p:nvSpPr>
          <p:cNvPr id="22" name="Text 18"/>
          <p:cNvSpPr txBox="1"/>
          <p:nvPr/>
        </p:nvSpPr>
        <p:spPr>
          <a:xfrm>
            <a:off x="2551176" y="3246120"/>
            <a:ext cx="1453896" cy="411480"/>
          </a:xfrm>
          <a:prstGeom prst="rect">
            <a:avLst/>
          </a:prstGeom>
          <a:noFill/>
          <a:ln/>
        </p:spPr>
        <p:txBody>
          <a:bodyPr wrap="square" lIns="0" tIns="0" rIns="0" bIns="0" rtlCol="0" anchor="t"/>
          <a:lstStyle/>
          <a:p>
            <a:pPr algn="ctr" indent="0" marL="0">
              <a:buNone/>
            </a:pPr>
            <a:r>
              <a:rPr lang="en-US" sz="1200" dirty="0">
                <a:solidFill>
                  <a:srgbClr val="64748B"/>
                </a:solidFill>
                <a:latin typeface="Calibri" pitchFamily="34" charset="0"/>
                <a:ea typeface="Calibri" pitchFamily="34" charset="-122"/>
                <a:cs typeface="Calibri" pitchFamily="34" charset="-120"/>
              </a:rPr>
              <a:t>HTTPS, TLS 1.3</a:t>
            </a:r>
            <a:endParaRPr lang="en-US" sz="1200" dirty="0"/>
          </a:p>
        </p:txBody>
      </p:sp>
      <p:sp>
        <p:nvSpPr>
          <p:cNvPr id="23" name="Shape 19"/>
          <p:cNvSpPr/>
          <p:nvPr/>
        </p:nvSpPr>
        <p:spPr>
          <a:xfrm>
            <a:off x="4887468" y="2103120"/>
            <a:ext cx="640080" cy="640080"/>
          </a:xfrm>
          <a:prstGeom prst="ellipse">
            <a:avLst/>
          </a:prstGeom>
          <a:solidFill>
            <a:srgbClr val="F59E0B"/>
          </a:solidFill>
          <a:ln w="12700">
            <a:solidFill>
              <a:srgbClr val="F59E0B"/>
            </a:solidFill>
            <a:prstDash val="solid"/>
          </a:ln>
        </p:spPr>
      </p:sp>
      <p:pic>
        <p:nvPicPr>
          <p:cNvPr id="24" name="Image 2" descr="preencoded.png">    </p:cNvPr>
          <p:cNvPicPr>
            <a:picLocks noChangeAspect="1"/>
          </p:cNvPicPr>
          <p:nvPr/>
        </p:nvPicPr>
        <p:blipFill>
          <a:blip r:embed="rId3"/>
          <a:stretch>
            <a:fillRect/>
          </a:stretch>
        </p:blipFill>
        <p:spPr>
          <a:xfrm>
            <a:off x="5047488" y="2263140"/>
            <a:ext cx="320040" cy="320040"/>
          </a:xfrm>
          <a:prstGeom prst="rect">
            <a:avLst/>
          </a:prstGeom>
        </p:spPr>
      </p:pic>
      <p:sp>
        <p:nvSpPr>
          <p:cNvPr id="25" name="Text 20"/>
          <p:cNvSpPr txBox="1"/>
          <p:nvPr/>
        </p:nvSpPr>
        <p:spPr>
          <a:xfrm>
            <a:off x="4480560" y="2834640"/>
            <a:ext cx="1453896" cy="457200"/>
          </a:xfrm>
          <a:prstGeom prst="rect">
            <a:avLst/>
          </a:prstGeom>
          <a:noFill/>
          <a:ln/>
        </p:spPr>
        <p:txBody>
          <a:bodyPr wrap="square" lIns="0" tIns="0" rIns="0" bIns="0" rtlCol="0" anchor="ctr"/>
          <a:lstStyle/>
          <a:p>
            <a:pPr algn="ctr" indent="0" marL="0">
              <a:buNone/>
            </a:pPr>
            <a:r>
              <a:rPr lang="en-US" sz="1500" b="1" dirty="0">
                <a:solidFill>
                  <a:srgbClr val="0F1B2D"/>
                </a:solidFill>
                <a:latin typeface="Calibri" pitchFamily="34" charset="0"/>
                <a:ea typeface="Calibri" pitchFamily="34" charset="-122"/>
                <a:cs typeface="Calibri" pitchFamily="34" charset="-120"/>
              </a:rPr>
              <a:t>WAF + public ALB</a:t>
            </a:r>
            <a:endParaRPr lang="en-US" sz="1500" dirty="0"/>
          </a:p>
        </p:txBody>
      </p:sp>
      <p:sp>
        <p:nvSpPr>
          <p:cNvPr id="26" name="Text 21"/>
          <p:cNvSpPr txBox="1"/>
          <p:nvPr/>
        </p:nvSpPr>
        <p:spPr>
          <a:xfrm>
            <a:off x="4480560" y="3246120"/>
            <a:ext cx="1453896" cy="411480"/>
          </a:xfrm>
          <a:prstGeom prst="rect">
            <a:avLst/>
          </a:prstGeom>
          <a:noFill/>
          <a:ln/>
        </p:spPr>
        <p:txBody>
          <a:bodyPr wrap="square" lIns="0" tIns="0" rIns="0" bIns="0" rtlCol="0" anchor="t"/>
          <a:lstStyle/>
          <a:p>
            <a:pPr algn="ctr" indent="0" marL="0">
              <a:buNone/>
            </a:pPr>
            <a:r>
              <a:rPr lang="en-US" sz="1200" dirty="0">
                <a:solidFill>
                  <a:srgbClr val="64748B"/>
                </a:solidFill>
                <a:latin typeface="Calibri" pitchFamily="34" charset="0"/>
                <a:ea typeface="Calibri" pitchFamily="34" charset="-122"/>
                <a:cs typeface="Calibri" pitchFamily="34" charset="-120"/>
              </a:rPr>
              <a:t>HTTP → HTTPS</a:t>
            </a:r>
            <a:endParaRPr lang="en-US" sz="1200" dirty="0"/>
          </a:p>
        </p:txBody>
      </p:sp>
      <p:sp>
        <p:nvSpPr>
          <p:cNvPr id="27" name="Shape 22"/>
          <p:cNvSpPr/>
          <p:nvPr/>
        </p:nvSpPr>
        <p:spPr>
          <a:xfrm>
            <a:off x="6816852" y="2103120"/>
            <a:ext cx="640080" cy="640080"/>
          </a:xfrm>
          <a:prstGeom prst="ellipse">
            <a:avLst/>
          </a:prstGeom>
          <a:solidFill>
            <a:srgbClr val="F59E0B"/>
          </a:solidFill>
          <a:ln w="12700">
            <a:solidFill>
              <a:srgbClr val="F59E0B"/>
            </a:solidFill>
            <a:prstDash val="solid"/>
          </a:ln>
        </p:spPr>
      </p:sp>
      <p:pic>
        <p:nvPicPr>
          <p:cNvPr id="28" name="Image 3" descr="preencoded.png">    </p:cNvPr>
          <p:cNvPicPr>
            <a:picLocks noChangeAspect="1"/>
          </p:cNvPicPr>
          <p:nvPr/>
        </p:nvPicPr>
        <p:blipFill>
          <a:blip r:embed="rId4"/>
          <a:stretch>
            <a:fillRect/>
          </a:stretch>
        </p:blipFill>
        <p:spPr>
          <a:xfrm>
            <a:off x="6976872" y="2263140"/>
            <a:ext cx="320040" cy="320040"/>
          </a:xfrm>
          <a:prstGeom prst="rect">
            <a:avLst/>
          </a:prstGeom>
        </p:spPr>
      </p:pic>
      <p:sp>
        <p:nvSpPr>
          <p:cNvPr id="29" name="Text 23"/>
          <p:cNvSpPr txBox="1"/>
          <p:nvPr/>
        </p:nvSpPr>
        <p:spPr>
          <a:xfrm>
            <a:off x="6409944" y="2834640"/>
            <a:ext cx="1453896" cy="457200"/>
          </a:xfrm>
          <a:prstGeom prst="rect">
            <a:avLst/>
          </a:prstGeom>
          <a:noFill/>
          <a:ln/>
        </p:spPr>
        <p:txBody>
          <a:bodyPr wrap="square" lIns="0" tIns="0" rIns="0" bIns="0" rtlCol="0" anchor="ctr"/>
          <a:lstStyle/>
          <a:p>
            <a:pPr algn="ctr" indent="0" marL="0">
              <a:buNone/>
            </a:pPr>
            <a:r>
              <a:rPr lang="en-US" sz="1500" b="1" dirty="0">
                <a:solidFill>
                  <a:srgbClr val="0F1B2D"/>
                </a:solidFill>
                <a:latin typeface="Calibri" pitchFamily="34" charset="0"/>
                <a:ea typeface="Calibri" pitchFamily="34" charset="-122"/>
                <a:cs typeface="Calibri" pitchFamily="34" charset="-120"/>
              </a:rPr>
              <a:t>Web tier</a:t>
            </a:r>
            <a:endParaRPr lang="en-US" sz="1500" dirty="0"/>
          </a:p>
        </p:txBody>
      </p:sp>
      <p:sp>
        <p:nvSpPr>
          <p:cNvPr id="30" name="Text 24"/>
          <p:cNvSpPr txBox="1"/>
          <p:nvPr/>
        </p:nvSpPr>
        <p:spPr>
          <a:xfrm>
            <a:off x="6409944" y="3246120"/>
            <a:ext cx="1453896" cy="411480"/>
          </a:xfrm>
          <a:prstGeom prst="rect">
            <a:avLst/>
          </a:prstGeom>
          <a:noFill/>
          <a:ln/>
        </p:spPr>
        <p:txBody>
          <a:bodyPr wrap="square" lIns="0" tIns="0" rIns="0" bIns="0" rtlCol="0" anchor="t"/>
          <a:lstStyle/>
          <a:p>
            <a:pPr algn="ctr" indent="0" marL="0">
              <a:buNone/>
            </a:pPr>
            <a:r>
              <a:rPr lang="en-US" sz="1200" dirty="0">
                <a:solidFill>
                  <a:srgbClr val="64748B"/>
                </a:solidFill>
                <a:latin typeface="Calibri" pitchFamily="34" charset="0"/>
                <a:ea typeface="Calibri" pitchFamily="34" charset="-122"/>
                <a:cs typeface="Calibri" pitchFamily="34" charset="-120"/>
              </a:rPr>
              <a:t>React + Nginx</a:t>
            </a:r>
            <a:endParaRPr lang="en-US" sz="1200" dirty="0"/>
          </a:p>
        </p:txBody>
      </p:sp>
      <p:sp>
        <p:nvSpPr>
          <p:cNvPr id="31" name="Shape 25"/>
          <p:cNvSpPr/>
          <p:nvPr/>
        </p:nvSpPr>
        <p:spPr>
          <a:xfrm>
            <a:off x="8746236" y="2103120"/>
            <a:ext cx="640080" cy="640080"/>
          </a:xfrm>
          <a:prstGeom prst="ellipse">
            <a:avLst/>
          </a:prstGeom>
          <a:solidFill>
            <a:srgbClr val="0E9F8E"/>
          </a:solidFill>
          <a:ln w="12700">
            <a:solidFill>
              <a:srgbClr val="0E9F8E"/>
            </a:solidFill>
            <a:prstDash val="solid"/>
          </a:ln>
        </p:spPr>
      </p:sp>
      <p:pic>
        <p:nvPicPr>
          <p:cNvPr id="32" name="Image 4" descr="preencoded.png">    </p:cNvPr>
          <p:cNvPicPr>
            <a:picLocks noChangeAspect="1"/>
          </p:cNvPicPr>
          <p:nvPr/>
        </p:nvPicPr>
        <p:blipFill>
          <a:blip r:embed="rId5"/>
          <a:stretch>
            <a:fillRect/>
          </a:stretch>
        </p:blipFill>
        <p:spPr>
          <a:xfrm>
            <a:off x="8906256" y="2263140"/>
            <a:ext cx="320040" cy="320040"/>
          </a:xfrm>
          <a:prstGeom prst="rect">
            <a:avLst/>
          </a:prstGeom>
        </p:spPr>
      </p:pic>
      <p:sp>
        <p:nvSpPr>
          <p:cNvPr id="33" name="Text 26"/>
          <p:cNvSpPr txBox="1"/>
          <p:nvPr/>
        </p:nvSpPr>
        <p:spPr>
          <a:xfrm>
            <a:off x="8339328" y="2834640"/>
            <a:ext cx="1453896" cy="457200"/>
          </a:xfrm>
          <a:prstGeom prst="rect">
            <a:avLst/>
          </a:prstGeom>
          <a:noFill/>
          <a:ln/>
        </p:spPr>
        <p:txBody>
          <a:bodyPr wrap="square" lIns="0" tIns="0" rIns="0" bIns="0" rtlCol="0" anchor="ctr"/>
          <a:lstStyle/>
          <a:p>
            <a:pPr algn="ctr" indent="0" marL="0">
              <a:buNone/>
            </a:pPr>
            <a:r>
              <a:rPr lang="en-US" sz="1500" b="1" dirty="0">
                <a:solidFill>
                  <a:srgbClr val="0F1B2D"/>
                </a:solidFill>
                <a:latin typeface="Calibri" pitchFamily="34" charset="0"/>
                <a:ea typeface="Calibri" pitchFamily="34" charset="-122"/>
                <a:cs typeface="Calibri" pitchFamily="34" charset="-120"/>
              </a:rPr>
              <a:t>App tier</a:t>
            </a:r>
            <a:endParaRPr lang="en-US" sz="1500" dirty="0"/>
          </a:p>
        </p:txBody>
      </p:sp>
      <p:sp>
        <p:nvSpPr>
          <p:cNvPr id="34" name="Text 27"/>
          <p:cNvSpPr txBox="1"/>
          <p:nvPr/>
        </p:nvSpPr>
        <p:spPr>
          <a:xfrm>
            <a:off x="8339328" y="3246120"/>
            <a:ext cx="1453896" cy="411480"/>
          </a:xfrm>
          <a:prstGeom prst="rect">
            <a:avLst/>
          </a:prstGeom>
          <a:noFill/>
          <a:ln/>
        </p:spPr>
        <p:txBody>
          <a:bodyPr wrap="square" lIns="0" tIns="0" rIns="0" bIns="0" rtlCol="0" anchor="t"/>
          <a:lstStyle/>
          <a:p>
            <a:pPr algn="ctr" indent="0" marL="0">
              <a:buNone/>
            </a:pPr>
            <a:r>
              <a:rPr lang="en-US" sz="1200" dirty="0">
                <a:solidFill>
                  <a:srgbClr val="64748B"/>
                </a:solidFill>
                <a:latin typeface="Calibri" pitchFamily="34" charset="0"/>
                <a:ea typeface="Calibri" pitchFamily="34" charset="-122"/>
                <a:cs typeface="Calibri" pitchFamily="34" charset="-120"/>
              </a:rPr>
              <a:t>FastAPI (internal ALB)</a:t>
            </a:r>
            <a:endParaRPr lang="en-US" sz="1200" dirty="0"/>
          </a:p>
        </p:txBody>
      </p:sp>
      <p:sp>
        <p:nvSpPr>
          <p:cNvPr id="35" name="Shape 28"/>
          <p:cNvSpPr/>
          <p:nvPr/>
        </p:nvSpPr>
        <p:spPr>
          <a:xfrm>
            <a:off x="10675620" y="2103120"/>
            <a:ext cx="640080" cy="640080"/>
          </a:xfrm>
          <a:prstGeom prst="ellipse">
            <a:avLst/>
          </a:prstGeom>
          <a:solidFill>
            <a:srgbClr val="6366F1"/>
          </a:solidFill>
          <a:ln w="12700">
            <a:solidFill>
              <a:srgbClr val="6366F1"/>
            </a:solidFill>
            <a:prstDash val="solid"/>
          </a:ln>
        </p:spPr>
      </p:sp>
      <p:pic>
        <p:nvPicPr>
          <p:cNvPr id="36" name="Image 5" descr="preencoded.png">    </p:cNvPr>
          <p:cNvPicPr>
            <a:picLocks noChangeAspect="1"/>
          </p:cNvPicPr>
          <p:nvPr/>
        </p:nvPicPr>
        <p:blipFill>
          <a:blip r:embed="rId6"/>
          <a:stretch>
            <a:fillRect/>
          </a:stretch>
        </p:blipFill>
        <p:spPr>
          <a:xfrm>
            <a:off x="10835640" y="2263140"/>
            <a:ext cx="320040" cy="320040"/>
          </a:xfrm>
          <a:prstGeom prst="rect">
            <a:avLst/>
          </a:prstGeom>
        </p:spPr>
      </p:pic>
      <p:sp>
        <p:nvSpPr>
          <p:cNvPr id="37" name="Text 29"/>
          <p:cNvSpPr txBox="1"/>
          <p:nvPr/>
        </p:nvSpPr>
        <p:spPr>
          <a:xfrm>
            <a:off x="10268712" y="2834640"/>
            <a:ext cx="1453896" cy="457200"/>
          </a:xfrm>
          <a:prstGeom prst="rect">
            <a:avLst/>
          </a:prstGeom>
          <a:noFill/>
          <a:ln/>
        </p:spPr>
        <p:txBody>
          <a:bodyPr wrap="square" lIns="0" tIns="0" rIns="0" bIns="0" rtlCol="0" anchor="ctr"/>
          <a:lstStyle/>
          <a:p>
            <a:pPr algn="ctr" indent="0" marL="0">
              <a:buNone/>
            </a:pPr>
            <a:r>
              <a:rPr lang="en-US" sz="1500" b="1" dirty="0">
                <a:solidFill>
                  <a:srgbClr val="0F1B2D"/>
                </a:solidFill>
                <a:latin typeface="Calibri" pitchFamily="34" charset="0"/>
                <a:ea typeface="Calibri" pitchFamily="34" charset="-122"/>
                <a:cs typeface="Calibri" pitchFamily="34" charset="-120"/>
              </a:rPr>
              <a:t>RDS MySQL</a:t>
            </a:r>
            <a:endParaRPr lang="en-US" sz="1500" dirty="0"/>
          </a:p>
        </p:txBody>
      </p:sp>
      <p:sp>
        <p:nvSpPr>
          <p:cNvPr id="38" name="Text 30"/>
          <p:cNvSpPr txBox="1"/>
          <p:nvPr/>
        </p:nvSpPr>
        <p:spPr>
          <a:xfrm>
            <a:off x="10268712" y="3246120"/>
            <a:ext cx="1453896" cy="411480"/>
          </a:xfrm>
          <a:prstGeom prst="rect">
            <a:avLst/>
          </a:prstGeom>
          <a:noFill/>
          <a:ln/>
        </p:spPr>
        <p:txBody>
          <a:bodyPr wrap="square" lIns="0" tIns="0" rIns="0" bIns="0" rtlCol="0" anchor="t"/>
          <a:lstStyle/>
          <a:p>
            <a:pPr algn="ctr" indent="0" marL="0">
              <a:buNone/>
            </a:pPr>
            <a:r>
              <a:rPr lang="en-US" sz="1200" dirty="0">
                <a:solidFill>
                  <a:srgbClr val="64748B"/>
                </a:solidFill>
                <a:latin typeface="Calibri" pitchFamily="34" charset="0"/>
                <a:ea typeface="Calibri" pitchFamily="34" charset="-122"/>
                <a:cs typeface="Calibri" pitchFamily="34" charset="-120"/>
              </a:rPr>
              <a:t>Multi-AZ in prod</a:t>
            </a:r>
            <a:endParaRPr lang="en-US" sz="1200" dirty="0"/>
          </a:p>
        </p:txBody>
      </p:sp>
      <p:sp>
        <p:nvSpPr>
          <p:cNvPr id="39" name="Shape 31"/>
          <p:cNvSpPr/>
          <p:nvPr/>
        </p:nvSpPr>
        <p:spPr>
          <a:xfrm>
            <a:off x="548640" y="4206240"/>
            <a:ext cx="5394960" cy="2011680"/>
          </a:xfrm>
          <a:prstGeom prst="roundRect">
            <a:avLst>
              <a:gd name="adj" fmla="val 5455"/>
            </a:avLst>
          </a:prstGeom>
          <a:solidFill>
            <a:srgbClr val="F1F5F9"/>
          </a:solidFill>
          <a:ln w="12700">
            <a:solidFill>
              <a:srgbClr val="F1F5F9"/>
            </a:solidFill>
            <a:prstDash val="solid"/>
          </a:ln>
        </p:spPr>
      </p:sp>
      <p:sp>
        <p:nvSpPr>
          <p:cNvPr id="40" name="Shape 32"/>
          <p:cNvSpPr/>
          <p:nvPr/>
        </p:nvSpPr>
        <p:spPr>
          <a:xfrm>
            <a:off x="822960" y="4434840"/>
            <a:ext cx="548640" cy="548640"/>
          </a:xfrm>
          <a:prstGeom prst="ellipse">
            <a:avLst/>
          </a:prstGeom>
          <a:solidFill>
            <a:srgbClr val="0F1B2D"/>
          </a:solidFill>
          <a:ln w="12700">
            <a:solidFill>
              <a:srgbClr val="0F1B2D"/>
            </a:solidFill>
            <a:prstDash val="solid"/>
          </a:ln>
        </p:spPr>
      </p:sp>
      <p:pic>
        <p:nvPicPr>
          <p:cNvPr id="41" name="Image 6" descr="preencoded.png">    </p:cNvPr>
          <p:cNvPicPr>
            <a:picLocks noChangeAspect="1"/>
          </p:cNvPicPr>
          <p:nvPr/>
        </p:nvPicPr>
        <p:blipFill>
          <a:blip r:embed="rId7"/>
          <a:stretch>
            <a:fillRect/>
          </a:stretch>
        </p:blipFill>
        <p:spPr>
          <a:xfrm>
            <a:off x="960120" y="4572000"/>
            <a:ext cx="274320" cy="274320"/>
          </a:xfrm>
          <a:prstGeom prst="rect">
            <a:avLst/>
          </a:prstGeom>
        </p:spPr>
      </p:pic>
      <p:sp>
        <p:nvSpPr>
          <p:cNvPr id="42" name="Text 33"/>
          <p:cNvSpPr txBox="1"/>
          <p:nvPr/>
        </p:nvSpPr>
        <p:spPr>
          <a:xfrm>
            <a:off x="1554480" y="4434840"/>
            <a:ext cx="4206240" cy="548640"/>
          </a:xfrm>
          <a:prstGeom prst="rect">
            <a:avLst/>
          </a:prstGeom>
          <a:noFill/>
          <a:ln/>
        </p:spPr>
        <p:txBody>
          <a:bodyPr wrap="square" lIns="0" tIns="0" rIns="0" bIns="0" rtlCol="0" anchor="ctr"/>
          <a:lstStyle/>
          <a:p>
            <a:pPr indent="0" marL="0">
              <a:buNone/>
            </a:pPr>
            <a:r>
              <a:rPr lang="en-US" sz="1800" b="1" dirty="0">
                <a:solidFill>
                  <a:srgbClr val="0F1B2D"/>
                </a:solidFill>
                <a:latin typeface="Calibri" pitchFamily="34" charset="0"/>
                <a:ea typeface="Calibri" pitchFamily="34" charset="-122"/>
                <a:cs typeface="Calibri" pitchFamily="34" charset="-120"/>
              </a:rPr>
              <a:t>Network</a:t>
            </a:r>
            <a:endParaRPr lang="en-US" sz="1800" dirty="0"/>
          </a:p>
        </p:txBody>
      </p:sp>
      <p:sp>
        <p:nvSpPr>
          <p:cNvPr id="43" name="Text 34"/>
          <p:cNvSpPr txBox="1"/>
          <p:nvPr/>
        </p:nvSpPr>
        <p:spPr>
          <a:xfrm>
            <a:off x="822960" y="5074920"/>
            <a:ext cx="4892040" cy="1005840"/>
          </a:xfrm>
          <a:prstGeom prst="rect">
            <a:avLst/>
          </a:prstGeom>
          <a:noFill/>
          <a:ln/>
        </p:spPr>
        <p:txBody>
          <a:bodyPr wrap="square" lIns="0" tIns="0" rIns="0" bIns="0" rtlCol="0" anchor="t"/>
          <a:lstStyle/>
          <a:p>
            <a:pPr indent="0" marL="0">
              <a:buNone/>
            </a:pPr>
            <a:r>
              <a:rPr lang="en-US" sz="1400" dirty="0">
                <a:solidFill>
                  <a:srgbClr val="1E293B"/>
                </a:solidFill>
                <a:latin typeface="Calibri" pitchFamily="34" charset="0"/>
                <a:ea typeface="Calibri" pitchFamily="34" charset="-122"/>
                <a:cs typeface="Calibri" pitchFamily="34" charset="-120"/>
              </a:rPr>
              <a:t>VPC across 3 Availability Zones · public subnets only for the load balancer and NAT · private subnets for web, app and database · the database has no internet route · VPC flow logs</a:t>
            </a:r>
            <a:endParaRPr lang="en-US" sz="1400" dirty="0"/>
          </a:p>
        </p:txBody>
      </p:sp>
      <p:sp>
        <p:nvSpPr>
          <p:cNvPr id="44" name="Shape 35"/>
          <p:cNvSpPr/>
          <p:nvPr/>
        </p:nvSpPr>
        <p:spPr>
          <a:xfrm>
            <a:off x="6217920" y="4206240"/>
            <a:ext cx="5394960" cy="2011680"/>
          </a:xfrm>
          <a:prstGeom prst="roundRect">
            <a:avLst>
              <a:gd name="adj" fmla="val 5455"/>
            </a:avLst>
          </a:prstGeom>
          <a:solidFill>
            <a:srgbClr val="F1F5F9"/>
          </a:solidFill>
          <a:ln w="12700">
            <a:solidFill>
              <a:srgbClr val="F1F5F9"/>
            </a:solidFill>
            <a:prstDash val="solid"/>
          </a:ln>
        </p:spPr>
      </p:sp>
      <p:sp>
        <p:nvSpPr>
          <p:cNvPr id="45" name="Shape 36"/>
          <p:cNvSpPr/>
          <p:nvPr/>
        </p:nvSpPr>
        <p:spPr>
          <a:xfrm>
            <a:off x="6492240" y="4434840"/>
            <a:ext cx="548640" cy="548640"/>
          </a:xfrm>
          <a:prstGeom prst="ellipse">
            <a:avLst/>
          </a:prstGeom>
          <a:solidFill>
            <a:srgbClr val="0F1B2D"/>
          </a:solidFill>
          <a:ln w="12700">
            <a:solidFill>
              <a:srgbClr val="0F1B2D"/>
            </a:solidFill>
            <a:prstDash val="solid"/>
          </a:ln>
        </p:spPr>
      </p:sp>
      <p:pic>
        <p:nvPicPr>
          <p:cNvPr id="46" name="Image 7" descr="preencoded.png">    </p:cNvPr>
          <p:cNvPicPr>
            <a:picLocks noChangeAspect="1"/>
          </p:cNvPicPr>
          <p:nvPr/>
        </p:nvPicPr>
        <p:blipFill>
          <a:blip r:embed="rId8"/>
          <a:stretch>
            <a:fillRect/>
          </a:stretch>
        </p:blipFill>
        <p:spPr>
          <a:xfrm>
            <a:off x="6629400" y="4572000"/>
            <a:ext cx="274320" cy="274320"/>
          </a:xfrm>
          <a:prstGeom prst="rect">
            <a:avLst/>
          </a:prstGeom>
        </p:spPr>
      </p:pic>
      <p:sp>
        <p:nvSpPr>
          <p:cNvPr id="47" name="Text 37"/>
          <p:cNvSpPr txBox="1"/>
          <p:nvPr/>
        </p:nvSpPr>
        <p:spPr>
          <a:xfrm>
            <a:off x="7223760" y="4434840"/>
            <a:ext cx="4206240" cy="548640"/>
          </a:xfrm>
          <a:prstGeom prst="rect">
            <a:avLst/>
          </a:prstGeom>
          <a:noFill/>
          <a:ln/>
        </p:spPr>
        <p:txBody>
          <a:bodyPr wrap="square" lIns="0" tIns="0" rIns="0" bIns="0" rtlCol="0" anchor="ctr"/>
          <a:lstStyle/>
          <a:p>
            <a:pPr indent="0" marL="0">
              <a:buNone/>
            </a:pPr>
            <a:r>
              <a:rPr lang="en-US" sz="1800" b="1" dirty="0">
                <a:solidFill>
                  <a:srgbClr val="0F1B2D"/>
                </a:solidFill>
                <a:latin typeface="Calibri" pitchFamily="34" charset="0"/>
                <a:ea typeface="Calibri" pitchFamily="34" charset="-122"/>
                <a:cs typeface="Calibri" pitchFamily="34" charset="-120"/>
              </a:rPr>
              <a:t>Observability</a:t>
            </a:r>
            <a:endParaRPr lang="en-US" sz="1800" dirty="0"/>
          </a:p>
        </p:txBody>
      </p:sp>
      <p:sp>
        <p:nvSpPr>
          <p:cNvPr id="48" name="Text 38"/>
          <p:cNvSpPr txBox="1"/>
          <p:nvPr/>
        </p:nvSpPr>
        <p:spPr>
          <a:xfrm>
            <a:off x="6492240" y="5074920"/>
            <a:ext cx="4892040" cy="1005840"/>
          </a:xfrm>
          <a:prstGeom prst="rect">
            <a:avLst/>
          </a:prstGeom>
          <a:noFill/>
          <a:ln/>
        </p:spPr>
        <p:txBody>
          <a:bodyPr wrap="square" lIns="0" tIns="0" rIns="0" bIns="0" rtlCol="0" anchor="t"/>
          <a:lstStyle/>
          <a:p>
            <a:pPr indent="0" marL="0">
              <a:buNone/>
            </a:pPr>
            <a:r>
              <a:rPr lang="en-US" sz="1400" dirty="0">
                <a:solidFill>
                  <a:srgbClr val="1E293B"/>
                </a:solidFill>
                <a:latin typeface="Calibri" pitchFamily="34" charset="0"/>
                <a:ea typeface="Calibri" pitchFamily="34" charset="-122"/>
                <a:cs typeface="Calibri" pitchFamily="34" charset="-120"/>
              </a:rPr>
              <a:t>CloudWatch dashboards and alarms per environment · alarms → SNS → Lambda → Slack · centralized logs, ALB access logs, WAF logs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3400" b="1" dirty="0">
                <a:solidFill>
                  <a:srgbClr val="0F1B2D"/>
                </a:solidFill>
                <a:latin typeface="Arial" pitchFamily="34" charset="0"/>
                <a:ea typeface="Arial" pitchFamily="34" charset="-122"/>
                <a:cs typeface="Arial" pitchFamily="34" charset="-120"/>
              </a:rPr>
              <a:t>Two platforms, one codebase</a:t>
            </a:r>
            <a:endParaRPr lang="en-US" sz="3400" dirty="0"/>
          </a:p>
        </p:txBody>
      </p:sp>
      <p:sp>
        <p:nvSpPr>
          <p:cNvPr id="3" name="Text 1"/>
          <p:cNvSpPr txBox="1"/>
          <p:nvPr/>
        </p:nvSpPr>
        <p:spPr>
          <a:xfrm>
            <a:off x="548640" y="1051560"/>
            <a:ext cx="11064240" cy="411480"/>
          </a:xfrm>
          <a:prstGeom prst="rect">
            <a:avLst/>
          </a:prstGeom>
          <a:noFill/>
          <a:ln/>
        </p:spPr>
        <p:txBody>
          <a:bodyPr wrap="square" lIns="0" tIns="0" rIns="0" bIns="0" rtlCol="0" anchor="ctr"/>
          <a:lstStyle/>
          <a:p>
            <a:pPr indent="0" marL="0">
              <a:buNone/>
            </a:pPr>
            <a:r>
              <a:rPr lang="en-US" sz="1600" dirty="0">
                <a:solidFill>
                  <a:srgbClr val="64748B"/>
                </a:solidFill>
                <a:latin typeface="Calibri" pitchFamily="34" charset="0"/>
                <a:ea typeface="Calibri" pitchFamily="34" charset="-122"/>
                <a:cs typeface="Calibri" pitchFamily="34" charset="-120"/>
              </a:rPr>
              <a:t>Same application and pipeline; each platform has its own state, subnets, load balancers and database</a:t>
            </a:r>
            <a:endParaRPr lang="en-US" sz="1600" dirty="0"/>
          </a:p>
        </p:txBody>
      </p:sp>
      <p:sp>
        <p:nvSpPr>
          <p:cNvPr id="4" name="Shape 2"/>
          <p:cNvSpPr/>
          <p:nvPr/>
        </p:nvSpPr>
        <p:spPr>
          <a:xfrm>
            <a:off x="548640" y="1783080"/>
            <a:ext cx="5394960" cy="3520440"/>
          </a:xfrm>
          <a:prstGeom prst="roundRect">
            <a:avLst>
              <a:gd name="adj" fmla="val 3117"/>
            </a:avLst>
          </a:prstGeom>
          <a:solidFill>
            <a:srgbClr val="F1F5F9"/>
          </a:solidFill>
          <a:ln w="12700">
            <a:solidFill>
              <a:srgbClr val="F1F5F9"/>
            </a:solidFill>
            <a:prstDash val="solid"/>
          </a:ln>
        </p:spPr>
      </p:sp>
      <p:sp>
        <p:nvSpPr>
          <p:cNvPr id="5" name="Shape 3"/>
          <p:cNvSpPr/>
          <p:nvPr/>
        </p:nvSpPr>
        <p:spPr>
          <a:xfrm>
            <a:off x="868680" y="2011680"/>
            <a:ext cx="777240" cy="777240"/>
          </a:xfrm>
          <a:prstGeom prst="ellipse">
            <a:avLst/>
          </a:prstGeom>
          <a:solidFill>
            <a:srgbClr val="F59E0B"/>
          </a:solidFill>
          <a:ln w="12700">
            <a:solidFill>
              <a:srgbClr val="F59E0B"/>
            </a:solidFill>
            <a:prstDash val="solid"/>
          </a:ln>
        </p:spPr>
      </p:sp>
      <p:pic>
        <p:nvPicPr>
          <p:cNvPr id="6" name="Image 0" descr="preencoded.png">    </p:cNvPr>
          <p:cNvPicPr>
            <a:picLocks noChangeAspect="1"/>
          </p:cNvPicPr>
          <p:nvPr/>
        </p:nvPicPr>
        <p:blipFill>
          <a:blip r:embed="rId1"/>
          <a:stretch>
            <a:fillRect/>
          </a:stretch>
        </p:blipFill>
        <p:spPr>
          <a:xfrm>
            <a:off x="1062990" y="2205990"/>
            <a:ext cx="388620" cy="388620"/>
          </a:xfrm>
          <a:prstGeom prst="rect">
            <a:avLst/>
          </a:prstGeom>
        </p:spPr>
      </p:pic>
      <p:sp>
        <p:nvSpPr>
          <p:cNvPr id="7" name="Text 4"/>
          <p:cNvSpPr txBox="1"/>
          <p:nvPr/>
        </p:nvSpPr>
        <p:spPr>
          <a:xfrm>
            <a:off x="1828800" y="2011680"/>
            <a:ext cx="3931920" cy="777240"/>
          </a:xfrm>
          <a:prstGeom prst="rect">
            <a:avLst/>
          </a:prstGeom>
          <a:noFill/>
          <a:ln/>
        </p:spPr>
        <p:txBody>
          <a:bodyPr wrap="square" lIns="0" tIns="0" rIns="0" bIns="0" rtlCol="0" anchor="ctr"/>
          <a:lstStyle/>
          <a:p>
            <a:pPr indent="0" marL="0">
              <a:buNone/>
            </a:pPr>
            <a:r>
              <a:rPr lang="en-US" sz="2200" b="1" dirty="0">
                <a:solidFill>
                  <a:srgbClr val="0F1B2D"/>
                </a:solidFill>
                <a:latin typeface="Arial" pitchFamily="34" charset="0"/>
                <a:ea typeface="Arial" pitchFamily="34" charset="-122"/>
                <a:cs typeface="Arial" pitchFamily="34" charset="-120"/>
              </a:rPr>
              <a:t>EC2 (Project 1)</a:t>
            </a:r>
            <a:endParaRPr lang="en-US" sz="2200" dirty="0"/>
          </a:p>
        </p:txBody>
      </p:sp>
      <p:sp>
        <p:nvSpPr>
          <p:cNvPr id="8" name="Text 5"/>
          <p:cNvSpPr txBox="1"/>
          <p:nvPr/>
        </p:nvSpPr>
        <p:spPr>
          <a:xfrm>
            <a:off x="868680" y="3063240"/>
            <a:ext cx="4846320" cy="210312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1E293B"/>
                </a:solidFill>
                <a:latin typeface="Calibri" pitchFamily="34" charset="0"/>
                <a:ea typeface="Calibri" pitchFamily="34" charset="-122"/>
                <a:cs typeface="Calibri" pitchFamily="34" charset="-120"/>
              </a:rPr>
              <a:t>AMIs baked by Packer, tagged with the commit SHA</a:t>
            </a:r>
            <a:endParaRPr lang="en-US" sz="1600" dirty="0"/>
          </a:p>
          <a:p>
            <a:pPr marL="342900" indent="-342900">
              <a:spcAft>
                <a:spcPts val="1200"/>
              </a:spcAft>
              <a:buSzPct val="100000"/>
              <a:buChar char="•"/>
            </a:pPr>
            <a:r>
              <a:rPr lang="en-US" sz="1600" dirty="0">
                <a:solidFill>
                  <a:srgbClr val="1E293B"/>
                </a:solidFill>
                <a:latin typeface="Calibri" pitchFamily="34" charset="0"/>
                <a:ea typeface="Calibri" pitchFamily="34" charset="-122"/>
                <a:cs typeface="Calibri" pitchFamily="34" charset="-120"/>
              </a:rPr>
              <a:t>Trivy scan of every AMI before it is saved</a:t>
            </a:r>
            <a:endParaRPr lang="en-US" sz="1600" dirty="0"/>
          </a:p>
          <a:p>
            <a:pPr marL="342900" indent="-342900">
              <a:spcAft>
                <a:spcPts val="1200"/>
              </a:spcAft>
              <a:buSzPct val="100000"/>
              <a:buChar char="•"/>
            </a:pPr>
            <a:r>
              <a:rPr lang="en-US" sz="1600" dirty="0">
                <a:solidFill>
                  <a:srgbClr val="1E293B"/>
                </a:solidFill>
                <a:latin typeface="Calibri" pitchFamily="34" charset="0"/>
                <a:ea typeface="Calibri" pitchFamily="34" charset="-122"/>
                <a:cs typeface="Calibri" pitchFamily="34" charset="-120"/>
              </a:rPr>
              <a:t>Auto Scaling groups with rolling instance refresh</a:t>
            </a:r>
            <a:endParaRPr lang="en-US" sz="1600" dirty="0"/>
          </a:p>
          <a:p>
            <a:pPr marL="342900" indent="-342900">
              <a:spcAft>
                <a:spcPts val="1200"/>
              </a:spcAft>
              <a:buSzPct val="100000"/>
              <a:buChar char="•"/>
            </a:pPr>
            <a:r>
              <a:rPr lang="en-US" sz="1600" dirty="0">
                <a:solidFill>
                  <a:srgbClr val="1E293B"/>
                </a:solidFill>
                <a:latin typeface="Calibri" pitchFamily="34" charset="0"/>
                <a:ea typeface="Calibri" pitchFamily="34" charset="-122"/>
                <a:cs typeface="Calibri" pitchFamily="34" charset="-120"/>
              </a:rPr>
              <a:t>Access through SSM Session Manager (no SSH)</a:t>
            </a:r>
            <a:endParaRPr lang="en-US" sz="1600" dirty="0"/>
          </a:p>
        </p:txBody>
      </p:sp>
      <p:sp>
        <p:nvSpPr>
          <p:cNvPr id="9" name="Shape 6"/>
          <p:cNvSpPr/>
          <p:nvPr/>
        </p:nvSpPr>
        <p:spPr>
          <a:xfrm>
            <a:off x="6217920" y="1783080"/>
            <a:ext cx="5394960" cy="3520440"/>
          </a:xfrm>
          <a:prstGeom prst="roundRect">
            <a:avLst>
              <a:gd name="adj" fmla="val 3117"/>
            </a:avLst>
          </a:prstGeom>
          <a:solidFill>
            <a:srgbClr val="F1F5F9"/>
          </a:solidFill>
          <a:ln w="12700">
            <a:solidFill>
              <a:srgbClr val="F1F5F9"/>
            </a:solidFill>
            <a:prstDash val="solid"/>
          </a:ln>
        </p:spPr>
      </p:sp>
      <p:sp>
        <p:nvSpPr>
          <p:cNvPr id="10" name="Shape 7"/>
          <p:cNvSpPr/>
          <p:nvPr/>
        </p:nvSpPr>
        <p:spPr>
          <a:xfrm>
            <a:off x="6537960" y="2011680"/>
            <a:ext cx="777240" cy="777240"/>
          </a:xfrm>
          <a:prstGeom prst="ellipse">
            <a:avLst/>
          </a:prstGeom>
          <a:solidFill>
            <a:srgbClr val="0E9F8E"/>
          </a:solidFill>
          <a:ln w="12700">
            <a:solidFill>
              <a:srgbClr val="0E9F8E"/>
            </a:solidFill>
            <a:prstDash val="solid"/>
          </a:ln>
        </p:spPr>
      </p:sp>
      <p:pic>
        <p:nvPicPr>
          <p:cNvPr id="11" name="Image 1" descr="preencoded.png">    </p:cNvPr>
          <p:cNvPicPr>
            <a:picLocks noChangeAspect="1"/>
          </p:cNvPicPr>
          <p:nvPr/>
        </p:nvPicPr>
        <p:blipFill>
          <a:blip r:embed="rId2"/>
          <a:stretch>
            <a:fillRect/>
          </a:stretch>
        </p:blipFill>
        <p:spPr>
          <a:xfrm>
            <a:off x="6732270" y="2205990"/>
            <a:ext cx="388620" cy="388620"/>
          </a:xfrm>
          <a:prstGeom prst="rect">
            <a:avLst/>
          </a:prstGeom>
        </p:spPr>
      </p:pic>
      <p:sp>
        <p:nvSpPr>
          <p:cNvPr id="12" name="Text 8"/>
          <p:cNvSpPr txBox="1"/>
          <p:nvPr/>
        </p:nvSpPr>
        <p:spPr>
          <a:xfrm>
            <a:off x="7498080" y="2011680"/>
            <a:ext cx="3931920" cy="777240"/>
          </a:xfrm>
          <a:prstGeom prst="rect">
            <a:avLst/>
          </a:prstGeom>
          <a:noFill/>
          <a:ln/>
        </p:spPr>
        <p:txBody>
          <a:bodyPr wrap="square" lIns="0" tIns="0" rIns="0" bIns="0" rtlCol="0" anchor="ctr"/>
          <a:lstStyle/>
          <a:p>
            <a:pPr indent="0" marL="0">
              <a:buNone/>
            </a:pPr>
            <a:r>
              <a:rPr lang="en-US" sz="2200" b="1" dirty="0">
                <a:solidFill>
                  <a:srgbClr val="0F1B2D"/>
                </a:solidFill>
                <a:latin typeface="Arial" pitchFamily="34" charset="0"/>
                <a:ea typeface="Arial" pitchFamily="34" charset="-122"/>
                <a:cs typeface="Arial" pitchFamily="34" charset="-120"/>
              </a:rPr>
              <a:t>ECS Fargate (Project 2)</a:t>
            </a:r>
            <a:endParaRPr lang="en-US" sz="2200" dirty="0"/>
          </a:p>
        </p:txBody>
      </p:sp>
      <p:sp>
        <p:nvSpPr>
          <p:cNvPr id="13" name="Text 9"/>
          <p:cNvSpPr txBox="1"/>
          <p:nvPr/>
        </p:nvSpPr>
        <p:spPr>
          <a:xfrm>
            <a:off x="6537960" y="3063240"/>
            <a:ext cx="4846320" cy="210312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1E293B"/>
                </a:solidFill>
                <a:latin typeface="Calibri" pitchFamily="34" charset="0"/>
                <a:ea typeface="Calibri" pitchFamily="34" charset="-122"/>
                <a:cs typeface="Calibri" pitchFamily="34" charset="-120"/>
              </a:rPr>
              <a:t>Docker images in ECR, scanned on push</a:t>
            </a:r>
            <a:endParaRPr lang="en-US" sz="1600" dirty="0"/>
          </a:p>
          <a:p>
            <a:pPr marL="342900" indent="-342900">
              <a:spcAft>
                <a:spcPts val="1200"/>
              </a:spcAft>
              <a:buSzPct val="100000"/>
              <a:buChar char="•"/>
            </a:pPr>
            <a:r>
              <a:rPr lang="en-US" sz="1600" dirty="0">
                <a:solidFill>
                  <a:srgbClr val="1E293B"/>
                </a:solidFill>
                <a:latin typeface="Calibri" pitchFamily="34" charset="0"/>
                <a:ea typeface="Calibri" pitchFamily="34" charset="-122"/>
                <a:cs typeface="Calibri" pitchFamily="34" charset="-120"/>
              </a:rPr>
              <a:t>Task definitions pinned to image digests</a:t>
            </a:r>
            <a:endParaRPr lang="en-US" sz="1600" dirty="0"/>
          </a:p>
          <a:p>
            <a:pPr marL="342900" indent="-342900">
              <a:spcAft>
                <a:spcPts val="1200"/>
              </a:spcAft>
              <a:buSzPct val="100000"/>
              <a:buChar char="•"/>
            </a:pPr>
            <a:r>
              <a:rPr lang="en-US" sz="1600" dirty="0">
                <a:solidFill>
                  <a:srgbClr val="1E293B"/>
                </a:solidFill>
                <a:latin typeface="Calibri" pitchFamily="34" charset="0"/>
                <a:ea typeface="Calibri" pitchFamily="34" charset="-122"/>
                <a:cs typeface="Calibri" pitchFamily="34" charset="-120"/>
              </a:rPr>
              <a:t>Deployment circuit breaker with automatic rollback</a:t>
            </a:r>
            <a:endParaRPr lang="en-US" sz="1600" dirty="0"/>
          </a:p>
          <a:p>
            <a:pPr marL="342900" indent="-342900">
              <a:spcAft>
                <a:spcPts val="1200"/>
              </a:spcAft>
              <a:buSzPct val="100000"/>
              <a:buChar char="•"/>
            </a:pPr>
            <a:r>
              <a:rPr lang="en-US" sz="1600" dirty="0">
                <a:solidFill>
                  <a:srgbClr val="1E293B"/>
                </a:solidFill>
                <a:latin typeface="Calibri" pitchFamily="34" charset="0"/>
                <a:ea typeface="Calibri" pitchFamily="34" charset="-122"/>
                <a:cs typeface="Calibri" pitchFamily="34" charset="-120"/>
              </a:rPr>
              <a:t>Service auto scaling per tier</a:t>
            </a:r>
            <a:endParaRPr lang="en-US" sz="1600" dirty="0"/>
          </a:p>
        </p:txBody>
      </p:sp>
      <p:sp>
        <p:nvSpPr>
          <p:cNvPr id="14" name="Shape 10"/>
          <p:cNvSpPr/>
          <p:nvPr/>
        </p:nvSpPr>
        <p:spPr>
          <a:xfrm>
            <a:off x="548640" y="5532120"/>
            <a:ext cx="11064240" cy="731520"/>
          </a:xfrm>
          <a:prstGeom prst="roundRect">
            <a:avLst>
              <a:gd name="adj" fmla="val 15000"/>
            </a:avLst>
          </a:prstGeom>
          <a:solidFill>
            <a:srgbClr val="0F1B2D"/>
          </a:solidFill>
          <a:ln w="12700">
            <a:solidFill>
              <a:srgbClr val="0F1B2D"/>
            </a:solidFill>
            <a:prstDash val="solid"/>
          </a:ln>
        </p:spPr>
      </p:sp>
      <p:sp>
        <p:nvSpPr>
          <p:cNvPr id="15" name="Text 11"/>
          <p:cNvSpPr txBox="1"/>
          <p:nvPr/>
        </p:nvSpPr>
        <p:spPr>
          <a:xfrm>
            <a:off x="822960" y="5532120"/>
            <a:ext cx="10515600" cy="731520"/>
          </a:xfrm>
          <a:prstGeom prst="rect">
            <a:avLst/>
          </a:prstGeom>
          <a:noFill/>
          <a:ln/>
        </p:spPr>
        <p:txBody>
          <a:bodyPr wrap="square" lIns="0" tIns="0" rIns="0" bIns="0" rtlCol="0" anchor="ctr"/>
          <a:lstStyle/>
          <a:p>
            <a:pPr indent="0" marL="0">
              <a:buNone/>
            </a:pPr>
            <a:r>
              <a:rPr lang="en-US" sz="1600" b="1" dirty="0">
                <a:solidFill>
                  <a:srgbClr val="F59E0B"/>
                </a:solidFill>
                <a:latin typeface="Calibri" pitchFamily="34" charset="0"/>
                <a:ea typeface="Calibri" pitchFamily="34" charset="-122"/>
                <a:cs typeface="Calibri" pitchFamily="34" charset="-120"/>
              </a:rPr>
              <a:t>DEPLOY_TARGET</a:t>
            </a:r>
            <a:pPr indent="0" marL="0">
              <a:buNone/>
            </a:pPr>
            <a:r>
              <a:rPr lang="en-US" sz="1600" dirty="0">
                <a:solidFill>
                  <a:srgbClr val="FFFFFF"/>
                </a:solidFill>
                <a:latin typeface="Calibri" pitchFamily="34" charset="0"/>
                <a:ea typeface="Calibri" pitchFamily="34" charset="-122"/>
                <a:cs typeface="Calibri" pitchFamily="34" charset="-120"/>
              </a:rPr>
              <a:t> chooses where pushes to main deploy: ec2, ecs or both. Manual runs and rollbacks can target either platform.</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3400" b="1" dirty="0">
                <a:solidFill>
                  <a:srgbClr val="0F1B2D"/>
                </a:solidFill>
                <a:latin typeface="Arial" pitchFamily="34" charset="0"/>
                <a:ea typeface="Arial" pitchFamily="34" charset="-122"/>
                <a:cs typeface="Arial" pitchFamily="34" charset="-120"/>
              </a:rPr>
              <a:t>Security by design</a:t>
            </a:r>
            <a:endParaRPr lang="en-US" sz="3400" dirty="0"/>
          </a:p>
        </p:txBody>
      </p:sp>
      <p:sp>
        <p:nvSpPr>
          <p:cNvPr id="3" name="Text 1"/>
          <p:cNvSpPr txBox="1"/>
          <p:nvPr/>
        </p:nvSpPr>
        <p:spPr>
          <a:xfrm>
            <a:off x="548640" y="1051560"/>
            <a:ext cx="11064240" cy="411480"/>
          </a:xfrm>
          <a:prstGeom prst="rect">
            <a:avLst/>
          </a:prstGeom>
          <a:noFill/>
          <a:ln/>
        </p:spPr>
        <p:txBody>
          <a:bodyPr wrap="square" lIns="0" tIns="0" rIns="0" bIns="0" rtlCol="0" anchor="ctr"/>
          <a:lstStyle/>
          <a:p>
            <a:pPr indent="0" marL="0">
              <a:buNone/>
            </a:pPr>
            <a:r>
              <a:rPr lang="en-US" sz="1600" dirty="0">
                <a:solidFill>
                  <a:srgbClr val="64748B"/>
                </a:solidFill>
                <a:latin typeface="Calibri" pitchFamily="34" charset="0"/>
                <a:ea typeface="Calibri" pitchFamily="34" charset="-122"/>
                <a:cs typeface="Calibri" pitchFamily="34" charset="-120"/>
              </a:rPr>
              <a:t>Least privilege and defense in depth at every layer</a:t>
            </a:r>
            <a:endParaRPr lang="en-US" sz="1600" dirty="0"/>
          </a:p>
        </p:txBody>
      </p:sp>
      <p:sp>
        <p:nvSpPr>
          <p:cNvPr id="4" name="Shape 2"/>
          <p:cNvSpPr/>
          <p:nvPr/>
        </p:nvSpPr>
        <p:spPr>
          <a:xfrm>
            <a:off x="548640" y="1783080"/>
            <a:ext cx="5394960" cy="2103120"/>
          </a:xfrm>
          <a:prstGeom prst="roundRect">
            <a:avLst>
              <a:gd name="adj" fmla="val 5217"/>
            </a:avLst>
          </a:prstGeom>
          <a:solidFill>
            <a:srgbClr val="F1F5F9"/>
          </a:solidFill>
          <a:ln w="12700">
            <a:solidFill>
              <a:srgbClr val="F1F5F9"/>
            </a:solidFill>
            <a:prstDash val="solid"/>
          </a:ln>
        </p:spPr>
      </p:sp>
      <p:sp>
        <p:nvSpPr>
          <p:cNvPr id="5" name="Shape 3"/>
          <p:cNvSpPr/>
          <p:nvPr/>
        </p:nvSpPr>
        <p:spPr>
          <a:xfrm>
            <a:off x="868680" y="2103120"/>
            <a:ext cx="731520" cy="731520"/>
          </a:xfrm>
          <a:prstGeom prst="ellipse">
            <a:avLst/>
          </a:prstGeom>
          <a:solidFill>
            <a:srgbClr val="F59E0B"/>
          </a:solidFill>
          <a:ln w="12700">
            <a:solidFill>
              <a:srgbClr val="F59E0B"/>
            </a:solidFill>
            <a:prstDash val="solid"/>
          </a:ln>
        </p:spPr>
      </p:sp>
      <p:pic>
        <p:nvPicPr>
          <p:cNvPr id="6" name="Image 0" descr="preencoded.png">    </p:cNvPr>
          <p:cNvPicPr>
            <a:picLocks noChangeAspect="1"/>
          </p:cNvPicPr>
          <p:nvPr/>
        </p:nvPicPr>
        <p:blipFill>
          <a:blip r:embed="rId1"/>
          <a:stretch>
            <a:fillRect/>
          </a:stretch>
        </p:blipFill>
        <p:spPr>
          <a:xfrm>
            <a:off x="1051560" y="2286000"/>
            <a:ext cx="365760" cy="365760"/>
          </a:xfrm>
          <a:prstGeom prst="rect">
            <a:avLst/>
          </a:prstGeom>
        </p:spPr>
      </p:pic>
      <p:sp>
        <p:nvSpPr>
          <p:cNvPr id="7" name="Text 4"/>
          <p:cNvSpPr txBox="1"/>
          <p:nvPr/>
        </p:nvSpPr>
        <p:spPr>
          <a:xfrm>
            <a:off x="1828800" y="2103120"/>
            <a:ext cx="3931920" cy="731520"/>
          </a:xfrm>
          <a:prstGeom prst="rect">
            <a:avLst/>
          </a:prstGeom>
          <a:noFill/>
          <a:ln/>
        </p:spPr>
        <p:txBody>
          <a:bodyPr wrap="square" lIns="0" tIns="0" rIns="0" bIns="0" rtlCol="0" anchor="ctr"/>
          <a:lstStyle/>
          <a:p>
            <a:pPr indent="0" marL="0">
              <a:buNone/>
            </a:pPr>
            <a:r>
              <a:rPr lang="en-US" sz="1900" b="1" dirty="0">
                <a:solidFill>
                  <a:srgbClr val="0F1B2D"/>
                </a:solidFill>
                <a:latin typeface="Calibri" pitchFamily="34" charset="0"/>
                <a:ea typeface="Calibri" pitchFamily="34" charset="-122"/>
                <a:cs typeface="Calibri" pitchFamily="34" charset="-120"/>
              </a:rPr>
              <a:t>No stored AWS keys</a:t>
            </a:r>
            <a:endParaRPr lang="en-US" sz="1900" dirty="0"/>
          </a:p>
        </p:txBody>
      </p:sp>
      <p:sp>
        <p:nvSpPr>
          <p:cNvPr id="8" name="Text 5"/>
          <p:cNvSpPr txBox="1"/>
          <p:nvPr/>
        </p:nvSpPr>
        <p:spPr>
          <a:xfrm>
            <a:off x="868680" y="2971800"/>
            <a:ext cx="4800600" cy="777240"/>
          </a:xfrm>
          <a:prstGeom prst="rect">
            <a:avLst/>
          </a:prstGeom>
          <a:noFill/>
          <a:ln/>
        </p:spPr>
        <p:txBody>
          <a:bodyPr wrap="square" lIns="0" tIns="0" rIns="0" bIns="0" rtlCol="0" anchor="t"/>
          <a:lstStyle/>
          <a:p>
            <a:pPr indent="0" marL="0">
              <a:buNone/>
            </a:pPr>
            <a:r>
              <a:rPr lang="en-US" sz="1500" dirty="0">
                <a:solidFill>
                  <a:srgbClr val="1E293B"/>
                </a:solidFill>
                <a:latin typeface="Calibri" pitchFamily="34" charset="0"/>
                <a:ea typeface="Calibri" pitchFamily="34" charset="-122"/>
                <a:cs typeface="Calibri" pitchFamily="34" charset="-120"/>
              </a:rPr>
              <a:t>GitHub signs in with OIDC. Separate least-privilege roles for plan (read-only), build, and deploy per environment.</a:t>
            </a:r>
            <a:endParaRPr lang="en-US" sz="1500" dirty="0"/>
          </a:p>
        </p:txBody>
      </p:sp>
      <p:sp>
        <p:nvSpPr>
          <p:cNvPr id="9" name="Shape 6"/>
          <p:cNvSpPr/>
          <p:nvPr/>
        </p:nvSpPr>
        <p:spPr>
          <a:xfrm>
            <a:off x="6217920" y="1783080"/>
            <a:ext cx="5394960" cy="2103120"/>
          </a:xfrm>
          <a:prstGeom prst="roundRect">
            <a:avLst>
              <a:gd name="adj" fmla="val 5217"/>
            </a:avLst>
          </a:prstGeom>
          <a:solidFill>
            <a:srgbClr val="F1F5F9"/>
          </a:solidFill>
          <a:ln w="12700">
            <a:solidFill>
              <a:srgbClr val="F1F5F9"/>
            </a:solidFill>
            <a:prstDash val="solid"/>
          </a:ln>
        </p:spPr>
      </p:sp>
      <p:sp>
        <p:nvSpPr>
          <p:cNvPr id="10" name="Shape 7"/>
          <p:cNvSpPr/>
          <p:nvPr/>
        </p:nvSpPr>
        <p:spPr>
          <a:xfrm>
            <a:off x="6537960" y="2103120"/>
            <a:ext cx="731520" cy="731520"/>
          </a:xfrm>
          <a:prstGeom prst="ellipse">
            <a:avLst/>
          </a:prstGeom>
          <a:solidFill>
            <a:srgbClr val="0E9F8E"/>
          </a:solidFill>
          <a:ln w="12700">
            <a:solidFill>
              <a:srgbClr val="0E9F8E"/>
            </a:solidFill>
            <a:prstDash val="solid"/>
          </a:ln>
        </p:spPr>
      </p:sp>
      <p:pic>
        <p:nvPicPr>
          <p:cNvPr id="11" name="Image 1" descr="preencoded.png">    </p:cNvPr>
          <p:cNvPicPr>
            <a:picLocks noChangeAspect="1"/>
          </p:cNvPicPr>
          <p:nvPr/>
        </p:nvPicPr>
        <p:blipFill>
          <a:blip r:embed="rId2"/>
          <a:stretch>
            <a:fillRect/>
          </a:stretch>
        </p:blipFill>
        <p:spPr>
          <a:xfrm>
            <a:off x="6720840" y="2286000"/>
            <a:ext cx="365760" cy="365760"/>
          </a:xfrm>
          <a:prstGeom prst="rect">
            <a:avLst/>
          </a:prstGeom>
        </p:spPr>
      </p:pic>
      <p:sp>
        <p:nvSpPr>
          <p:cNvPr id="12" name="Text 8"/>
          <p:cNvSpPr txBox="1"/>
          <p:nvPr/>
        </p:nvSpPr>
        <p:spPr>
          <a:xfrm>
            <a:off x="7498080" y="2103120"/>
            <a:ext cx="3931920" cy="731520"/>
          </a:xfrm>
          <a:prstGeom prst="rect">
            <a:avLst/>
          </a:prstGeom>
          <a:noFill/>
          <a:ln/>
        </p:spPr>
        <p:txBody>
          <a:bodyPr wrap="square" lIns="0" tIns="0" rIns="0" bIns="0" rtlCol="0" anchor="ctr"/>
          <a:lstStyle/>
          <a:p>
            <a:pPr indent="0" marL="0">
              <a:buNone/>
            </a:pPr>
            <a:r>
              <a:rPr lang="en-US" sz="1900" b="1" dirty="0">
                <a:solidFill>
                  <a:srgbClr val="0F1B2D"/>
                </a:solidFill>
                <a:latin typeface="Calibri" pitchFamily="34" charset="0"/>
                <a:ea typeface="Calibri" pitchFamily="34" charset="-122"/>
                <a:cs typeface="Calibri" pitchFamily="34" charset="-120"/>
              </a:rPr>
              <a:t>Production only from main</a:t>
            </a:r>
            <a:endParaRPr lang="en-US" sz="1900" dirty="0"/>
          </a:p>
        </p:txBody>
      </p:sp>
      <p:sp>
        <p:nvSpPr>
          <p:cNvPr id="13" name="Text 9"/>
          <p:cNvSpPr txBox="1"/>
          <p:nvPr/>
        </p:nvSpPr>
        <p:spPr>
          <a:xfrm>
            <a:off x="6537960" y="2971800"/>
            <a:ext cx="4800600" cy="777240"/>
          </a:xfrm>
          <a:prstGeom prst="rect">
            <a:avLst/>
          </a:prstGeom>
          <a:noFill/>
          <a:ln/>
        </p:spPr>
        <p:txBody>
          <a:bodyPr wrap="square" lIns="0" tIns="0" rIns="0" bIns="0" rtlCol="0" anchor="t"/>
          <a:lstStyle/>
          <a:p>
            <a:pPr indent="0" marL="0">
              <a:buNone/>
            </a:pPr>
            <a:r>
              <a:rPr lang="en-US" sz="1500" dirty="0">
                <a:solidFill>
                  <a:srgbClr val="1E293B"/>
                </a:solidFill>
                <a:latin typeface="Calibri" pitchFamily="34" charset="0"/>
                <a:ea typeface="Calibri" pitchFamily="34" charset="-122"/>
                <a:cs typeface="Calibri" pitchFamily="34" charset="-120"/>
              </a:rPr>
              <a:t>Three independent locks: IAM trust policies, the GitHub prod environment rule, and a required approval with no admin bypass.</a:t>
            </a:r>
            <a:endParaRPr lang="en-US" sz="1500" dirty="0"/>
          </a:p>
        </p:txBody>
      </p:sp>
      <p:sp>
        <p:nvSpPr>
          <p:cNvPr id="14" name="Shape 10"/>
          <p:cNvSpPr/>
          <p:nvPr/>
        </p:nvSpPr>
        <p:spPr>
          <a:xfrm>
            <a:off x="548640" y="4114800"/>
            <a:ext cx="5394960" cy="2103120"/>
          </a:xfrm>
          <a:prstGeom prst="roundRect">
            <a:avLst>
              <a:gd name="adj" fmla="val 5217"/>
            </a:avLst>
          </a:prstGeom>
          <a:solidFill>
            <a:srgbClr val="F1F5F9"/>
          </a:solidFill>
          <a:ln w="12700">
            <a:solidFill>
              <a:srgbClr val="F1F5F9"/>
            </a:solidFill>
            <a:prstDash val="solid"/>
          </a:ln>
        </p:spPr>
      </p:sp>
      <p:sp>
        <p:nvSpPr>
          <p:cNvPr id="15" name="Shape 11"/>
          <p:cNvSpPr/>
          <p:nvPr/>
        </p:nvSpPr>
        <p:spPr>
          <a:xfrm>
            <a:off x="868680" y="4434840"/>
            <a:ext cx="731520" cy="731520"/>
          </a:xfrm>
          <a:prstGeom prst="ellipse">
            <a:avLst/>
          </a:prstGeom>
          <a:solidFill>
            <a:srgbClr val="6366F1"/>
          </a:solidFill>
          <a:ln w="12700">
            <a:solidFill>
              <a:srgbClr val="6366F1"/>
            </a:solidFill>
            <a:prstDash val="solid"/>
          </a:ln>
        </p:spPr>
      </p:sp>
      <p:pic>
        <p:nvPicPr>
          <p:cNvPr id="16" name="Image 2" descr="preencoded.png">    </p:cNvPr>
          <p:cNvPicPr>
            <a:picLocks noChangeAspect="1"/>
          </p:cNvPicPr>
          <p:nvPr/>
        </p:nvPicPr>
        <p:blipFill>
          <a:blip r:embed="rId3"/>
          <a:stretch>
            <a:fillRect/>
          </a:stretch>
        </p:blipFill>
        <p:spPr>
          <a:xfrm>
            <a:off x="1051560" y="4617720"/>
            <a:ext cx="365760" cy="365760"/>
          </a:xfrm>
          <a:prstGeom prst="rect">
            <a:avLst/>
          </a:prstGeom>
        </p:spPr>
      </p:pic>
      <p:sp>
        <p:nvSpPr>
          <p:cNvPr id="17" name="Text 12"/>
          <p:cNvSpPr txBox="1"/>
          <p:nvPr/>
        </p:nvSpPr>
        <p:spPr>
          <a:xfrm>
            <a:off x="1828800" y="4434840"/>
            <a:ext cx="3931920" cy="731520"/>
          </a:xfrm>
          <a:prstGeom prst="rect">
            <a:avLst/>
          </a:prstGeom>
          <a:noFill/>
          <a:ln/>
        </p:spPr>
        <p:txBody>
          <a:bodyPr wrap="square" lIns="0" tIns="0" rIns="0" bIns="0" rtlCol="0" anchor="ctr"/>
          <a:lstStyle/>
          <a:p>
            <a:pPr indent="0" marL="0">
              <a:buNone/>
            </a:pPr>
            <a:r>
              <a:rPr lang="en-US" sz="1900" b="1" dirty="0">
                <a:solidFill>
                  <a:srgbClr val="0F1B2D"/>
                </a:solidFill>
                <a:latin typeface="Calibri" pitchFamily="34" charset="0"/>
                <a:ea typeface="Calibri" pitchFamily="34" charset="-122"/>
                <a:cs typeface="Calibri" pitchFamily="34" charset="-120"/>
              </a:rPr>
              <a:t>Encrypted everywhere</a:t>
            </a:r>
            <a:endParaRPr lang="en-US" sz="1900" dirty="0"/>
          </a:p>
        </p:txBody>
      </p:sp>
      <p:sp>
        <p:nvSpPr>
          <p:cNvPr id="18" name="Text 13"/>
          <p:cNvSpPr txBox="1"/>
          <p:nvPr/>
        </p:nvSpPr>
        <p:spPr>
          <a:xfrm>
            <a:off x="868680" y="5303520"/>
            <a:ext cx="4800600" cy="777240"/>
          </a:xfrm>
          <a:prstGeom prst="rect">
            <a:avLst/>
          </a:prstGeom>
          <a:noFill/>
          <a:ln/>
        </p:spPr>
        <p:txBody>
          <a:bodyPr wrap="square" lIns="0" tIns="0" rIns="0" bIns="0" rtlCol="0" anchor="t"/>
          <a:lstStyle/>
          <a:p>
            <a:pPr indent="0" marL="0">
              <a:buNone/>
            </a:pPr>
            <a:r>
              <a:rPr lang="en-US" sz="1500" dirty="0">
                <a:solidFill>
                  <a:srgbClr val="1E293B"/>
                </a:solidFill>
                <a:latin typeface="Calibri" pitchFamily="34" charset="0"/>
                <a:ea typeface="Calibri" pitchFamily="34" charset="-122"/>
                <a:cs typeface="Calibri" pitchFamily="34" charset="-120"/>
              </a:rPr>
              <a:t>KMS key per environment, encrypted disks, buckets and logs, TLS 1.3 at the edge, verified TLS to the database.</a:t>
            </a:r>
            <a:endParaRPr lang="en-US" sz="1500" dirty="0"/>
          </a:p>
        </p:txBody>
      </p:sp>
      <p:sp>
        <p:nvSpPr>
          <p:cNvPr id="19" name="Shape 14"/>
          <p:cNvSpPr/>
          <p:nvPr/>
        </p:nvSpPr>
        <p:spPr>
          <a:xfrm>
            <a:off x="6217920" y="4114800"/>
            <a:ext cx="5394960" cy="2103120"/>
          </a:xfrm>
          <a:prstGeom prst="roundRect">
            <a:avLst>
              <a:gd name="adj" fmla="val 5217"/>
            </a:avLst>
          </a:prstGeom>
          <a:solidFill>
            <a:srgbClr val="F1F5F9"/>
          </a:solidFill>
          <a:ln w="12700">
            <a:solidFill>
              <a:srgbClr val="F1F5F9"/>
            </a:solidFill>
            <a:prstDash val="solid"/>
          </a:ln>
        </p:spPr>
      </p:sp>
      <p:sp>
        <p:nvSpPr>
          <p:cNvPr id="20" name="Shape 15"/>
          <p:cNvSpPr/>
          <p:nvPr/>
        </p:nvSpPr>
        <p:spPr>
          <a:xfrm>
            <a:off x="6537960" y="4434840"/>
            <a:ext cx="731520" cy="731520"/>
          </a:xfrm>
          <a:prstGeom prst="ellipse">
            <a:avLst/>
          </a:prstGeom>
          <a:solidFill>
            <a:srgbClr val="0F1B2D"/>
          </a:solidFill>
          <a:ln w="12700">
            <a:solidFill>
              <a:srgbClr val="0F1B2D"/>
            </a:solidFill>
            <a:prstDash val="solid"/>
          </a:ln>
        </p:spPr>
      </p:sp>
      <p:pic>
        <p:nvPicPr>
          <p:cNvPr id="21" name="Image 3" descr="preencoded.png">    </p:cNvPr>
          <p:cNvPicPr>
            <a:picLocks noChangeAspect="1"/>
          </p:cNvPicPr>
          <p:nvPr/>
        </p:nvPicPr>
        <p:blipFill>
          <a:blip r:embed="rId4"/>
          <a:stretch>
            <a:fillRect/>
          </a:stretch>
        </p:blipFill>
        <p:spPr>
          <a:xfrm>
            <a:off x="6720840" y="4617720"/>
            <a:ext cx="365760" cy="365760"/>
          </a:xfrm>
          <a:prstGeom prst="rect">
            <a:avLst/>
          </a:prstGeom>
        </p:spPr>
      </p:pic>
      <p:sp>
        <p:nvSpPr>
          <p:cNvPr id="22" name="Text 16"/>
          <p:cNvSpPr txBox="1"/>
          <p:nvPr/>
        </p:nvSpPr>
        <p:spPr>
          <a:xfrm>
            <a:off x="7498080" y="4434840"/>
            <a:ext cx="3931920" cy="731520"/>
          </a:xfrm>
          <a:prstGeom prst="rect">
            <a:avLst/>
          </a:prstGeom>
          <a:noFill/>
          <a:ln/>
        </p:spPr>
        <p:txBody>
          <a:bodyPr wrap="square" lIns="0" tIns="0" rIns="0" bIns="0" rtlCol="0" anchor="ctr"/>
          <a:lstStyle/>
          <a:p>
            <a:pPr indent="0" marL="0">
              <a:buNone/>
            </a:pPr>
            <a:r>
              <a:rPr lang="en-US" sz="1900" b="1" dirty="0">
                <a:solidFill>
                  <a:srgbClr val="0F1B2D"/>
                </a:solidFill>
                <a:latin typeface="Calibri" pitchFamily="34" charset="0"/>
                <a:ea typeface="Calibri" pitchFamily="34" charset="-122"/>
                <a:cs typeface="Calibri" pitchFamily="34" charset="-120"/>
              </a:rPr>
              <a:t>Small attack surface</a:t>
            </a:r>
            <a:endParaRPr lang="en-US" sz="1900" dirty="0"/>
          </a:p>
        </p:txBody>
      </p:sp>
      <p:sp>
        <p:nvSpPr>
          <p:cNvPr id="23" name="Text 17"/>
          <p:cNvSpPr txBox="1"/>
          <p:nvPr/>
        </p:nvSpPr>
        <p:spPr>
          <a:xfrm>
            <a:off x="6537960" y="5303520"/>
            <a:ext cx="4800600" cy="777240"/>
          </a:xfrm>
          <a:prstGeom prst="rect">
            <a:avLst/>
          </a:prstGeom>
          <a:noFill/>
          <a:ln/>
        </p:spPr>
        <p:txBody>
          <a:bodyPr wrap="square" lIns="0" tIns="0" rIns="0" bIns="0" rtlCol="0" anchor="t"/>
          <a:lstStyle/>
          <a:p>
            <a:pPr indent="0" marL="0">
              <a:buNone/>
            </a:pPr>
            <a:r>
              <a:rPr lang="en-US" sz="1500" dirty="0">
                <a:solidFill>
                  <a:srgbClr val="1E293B"/>
                </a:solidFill>
                <a:latin typeface="Calibri" pitchFamily="34" charset="0"/>
                <a:ea typeface="Calibri" pitchFamily="34" charset="-122"/>
                <a:cs typeface="Calibri" pitchFamily="34" charset="-120"/>
              </a:rPr>
              <a:t>AWS WAF, private subnets, no SSH (SSM), secrets in Secrets Manager and SSM, never in code.</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3400" b="1" dirty="0">
                <a:solidFill>
                  <a:srgbClr val="0F1B2D"/>
                </a:solidFill>
                <a:latin typeface="Arial" pitchFamily="34" charset="0"/>
                <a:ea typeface="Arial" pitchFamily="34" charset="-122"/>
                <a:cs typeface="Arial" pitchFamily="34" charset="-120"/>
              </a:rPr>
              <a:t>CI/CD pipeline: GitHub Flow</a:t>
            </a:r>
            <a:endParaRPr lang="en-US" sz="3400" dirty="0"/>
          </a:p>
        </p:txBody>
      </p:sp>
      <p:sp>
        <p:nvSpPr>
          <p:cNvPr id="3" name="Text 1"/>
          <p:cNvSpPr txBox="1"/>
          <p:nvPr/>
        </p:nvSpPr>
        <p:spPr>
          <a:xfrm>
            <a:off x="548640" y="1051560"/>
            <a:ext cx="11064240" cy="411480"/>
          </a:xfrm>
          <a:prstGeom prst="rect">
            <a:avLst/>
          </a:prstGeom>
          <a:noFill/>
          <a:ln/>
        </p:spPr>
        <p:txBody>
          <a:bodyPr wrap="square" lIns="0" tIns="0" rIns="0" bIns="0" rtlCol="0" anchor="ctr"/>
          <a:lstStyle/>
          <a:p>
            <a:pPr indent="0" marL="0">
              <a:buNone/>
            </a:pPr>
            <a:r>
              <a:rPr lang="en-US" sz="1600" dirty="0">
                <a:solidFill>
                  <a:srgbClr val="64748B"/>
                </a:solidFill>
                <a:latin typeface="Calibri" pitchFamily="34" charset="0"/>
                <a:ea typeface="Calibri" pitchFamily="34" charset="-122"/>
                <a:cs typeface="Calibri" pitchFamily="34" charset="-120"/>
              </a:rPr>
              <a:t>From a feature branch to production, with a gate at every step</a:t>
            </a:r>
            <a:endParaRPr lang="en-US" sz="1600" dirty="0"/>
          </a:p>
        </p:txBody>
      </p:sp>
      <p:sp>
        <p:nvSpPr>
          <p:cNvPr id="4" name="Shape 2"/>
          <p:cNvSpPr/>
          <p:nvPr/>
        </p:nvSpPr>
        <p:spPr>
          <a:xfrm>
            <a:off x="877824" y="1920240"/>
            <a:ext cx="822960" cy="822960"/>
          </a:xfrm>
          <a:prstGeom prst="ellipse">
            <a:avLst/>
          </a:prstGeom>
          <a:solidFill>
            <a:srgbClr val="0E9F8E"/>
          </a:solidFill>
          <a:ln w="12700">
            <a:solidFill>
              <a:srgbClr val="0E9F8E"/>
            </a:solidFill>
            <a:prstDash val="solid"/>
          </a:ln>
        </p:spPr>
      </p:sp>
      <p:pic>
        <p:nvPicPr>
          <p:cNvPr id="5" name="Image 0" descr="preencoded.png">    </p:cNvPr>
          <p:cNvPicPr>
            <a:picLocks noChangeAspect="1"/>
          </p:cNvPicPr>
          <p:nvPr/>
        </p:nvPicPr>
        <p:blipFill>
          <a:blip r:embed="rId1"/>
          <a:stretch>
            <a:fillRect/>
          </a:stretch>
        </p:blipFill>
        <p:spPr>
          <a:xfrm>
            <a:off x="1083564" y="2125980"/>
            <a:ext cx="411480" cy="411480"/>
          </a:xfrm>
          <a:prstGeom prst="rect">
            <a:avLst/>
          </a:prstGeom>
        </p:spPr>
      </p:pic>
      <p:sp>
        <p:nvSpPr>
          <p:cNvPr id="6" name="Text 3"/>
          <p:cNvSpPr txBox="1"/>
          <p:nvPr/>
        </p:nvSpPr>
        <p:spPr>
          <a:xfrm>
            <a:off x="1472184" y="1828800"/>
            <a:ext cx="365760" cy="365760"/>
          </a:xfrm>
          <a:prstGeom prst="ellipse">
            <a:avLst/>
          </a:prstGeom>
          <a:solidFill>
            <a:srgbClr val="0F1B2D"/>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7" name="Text 4"/>
          <p:cNvSpPr txBox="1"/>
          <p:nvPr/>
        </p:nvSpPr>
        <p:spPr>
          <a:xfrm>
            <a:off x="548640" y="2880360"/>
            <a:ext cx="1481328" cy="457200"/>
          </a:xfrm>
          <a:prstGeom prst="rect">
            <a:avLst/>
          </a:prstGeom>
          <a:noFill/>
          <a:ln/>
        </p:spPr>
        <p:txBody>
          <a:bodyPr wrap="square" lIns="0" tIns="0" rIns="0" bIns="0" rtlCol="0" anchor="ctr"/>
          <a:lstStyle/>
          <a:p>
            <a:pPr algn="ctr" indent="0" marL="0">
              <a:buNone/>
            </a:pPr>
            <a:r>
              <a:rPr lang="en-US" sz="1500" b="1" dirty="0">
                <a:solidFill>
                  <a:srgbClr val="0F1B2D"/>
                </a:solidFill>
                <a:latin typeface="Calibri" pitchFamily="34" charset="0"/>
                <a:ea typeface="Calibri" pitchFamily="34" charset="-122"/>
                <a:cs typeface="Calibri" pitchFamily="34" charset="-120"/>
              </a:rPr>
              <a:t>Feature branch</a:t>
            </a:r>
            <a:endParaRPr lang="en-US" sz="1500" dirty="0"/>
          </a:p>
        </p:txBody>
      </p:sp>
      <p:sp>
        <p:nvSpPr>
          <p:cNvPr id="8" name="Text 5"/>
          <p:cNvSpPr txBox="1"/>
          <p:nvPr/>
        </p:nvSpPr>
        <p:spPr>
          <a:xfrm>
            <a:off x="548640" y="3291840"/>
            <a:ext cx="1481328" cy="548640"/>
          </a:xfrm>
          <a:prstGeom prst="rect">
            <a:avLst/>
          </a:prstGeom>
          <a:noFill/>
          <a:ln/>
        </p:spPr>
        <p:txBody>
          <a:bodyPr wrap="square" lIns="0" tIns="0" rIns="0" bIns="0" rtlCol="0" anchor="t"/>
          <a:lstStyle/>
          <a:p>
            <a:pPr algn="ctr" indent="0" marL="0">
              <a:buNone/>
            </a:pPr>
            <a:r>
              <a:rPr lang="en-US" sz="1200" dirty="0">
                <a:solidFill>
                  <a:srgbClr val="64748B"/>
                </a:solidFill>
                <a:latin typeface="Calibri" pitchFamily="34" charset="0"/>
                <a:ea typeface="Calibri" pitchFamily="34" charset="-122"/>
                <a:cs typeface="Calibri" pitchFamily="34" charset="-120"/>
              </a:rPr>
              <a:t>One branch per change</a:t>
            </a:r>
            <a:endParaRPr lang="en-US" sz="1200" dirty="0"/>
          </a:p>
        </p:txBody>
      </p:sp>
      <p:sp>
        <p:nvSpPr>
          <p:cNvPr id="9" name="Shape 6"/>
          <p:cNvSpPr/>
          <p:nvPr/>
        </p:nvSpPr>
        <p:spPr>
          <a:xfrm>
            <a:off x="2468880" y="1920240"/>
            <a:ext cx="822960" cy="822960"/>
          </a:xfrm>
          <a:prstGeom prst="ellipse">
            <a:avLst/>
          </a:prstGeom>
          <a:solidFill>
            <a:srgbClr val="0E9F8E"/>
          </a:solidFill>
          <a:ln w="12700">
            <a:solidFill>
              <a:srgbClr val="0E9F8E"/>
            </a:solidFill>
            <a:prstDash val="solid"/>
          </a:ln>
        </p:spPr>
      </p:sp>
      <p:pic>
        <p:nvPicPr>
          <p:cNvPr id="10" name="Image 1" descr="preencoded.png">    </p:cNvPr>
          <p:cNvPicPr>
            <a:picLocks noChangeAspect="1"/>
          </p:cNvPicPr>
          <p:nvPr/>
        </p:nvPicPr>
        <p:blipFill>
          <a:blip r:embed="rId2"/>
          <a:stretch>
            <a:fillRect/>
          </a:stretch>
        </p:blipFill>
        <p:spPr>
          <a:xfrm>
            <a:off x="2674620" y="2125980"/>
            <a:ext cx="411480" cy="411480"/>
          </a:xfrm>
          <a:prstGeom prst="rect">
            <a:avLst/>
          </a:prstGeom>
        </p:spPr>
      </p:pic>
      <p:sp>
        <p:nvSpPr>
          <p:cNvPr id="11" name="Text 7"/>
          <p:cNvSpPr txBox="1"/>
          <p:nvPr/>
        </p:nvSpPr>
        <p:spPr>
          <a:xfrm>
            <a:off x="3063240" y="1828800"/>
            <a:ext cx="365760" cy="365760"/>
          </a:xfrm>
          <a:prstGeom prst="ellipse">
            <a:avLst/>
          </a:prstGeom>
          <a:solidFill>
            <a:srgbClr val="0F1B2D"/>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2" name="Text 8"/>
          <p:cNvSpPr txBox="1"/>
          <p:nvPr/>
        </p:nvSpPr>
        <p:spPr>
          <a:xfrm>
            <a:off x="2139696" y="2880360"/>
            <a:ext cx="1481328" cy="457200"/>
          </a:xfrm>
          <a:prstGeom prst="rect">
            <a:avLst/>
          </a:prstGeom>
          <a:noFill/>
          <a:ln/>
        </p:spPr>
        <p:txBody>
          <a:bodyPr wrap="square" lIns="0" tIns="0" rIns="0" bIns="0" rtlCol="0" anchor="ctr"/>
          <a:lstStyle/>
          <a:p>
            <a:pPr algn="ctr" indent="0" marL="0">
              <a:buNone/>
            </a:pPr>
            <a:r>
              <a:rPr lang="en-US" sz="1500" b="1" dirty="0">
                <a:solidFill>
                  <a:srgbClr val="0F1B2D"/>
                </a:solidFill>
                <a:latin typeface="Calibri" pitchFamily="34" charset="0"/>
                <a:ea typeface="Calibri" pitchFamily="34" charset="-122"/>
                <a:cs typeface="Calibri" pitchFamily="34" charset="-120"/>
              </a:rPr>
              <a:t>Pull request</a:t>
            </a:r>
            <a:endParaRPr lang="en-US" sz="1500" dirty="0"/>
          </a:p>
        </p:txBody>
      </p:sp>
      <p:sp>
        <p:nvSpPr>
          <p:cNvPr id="13" name="Text 9"/>
          <p:cNvSpPr txBox="1"/>
          <p:nvPr/>
        </p:nvSpPr>
        <p:spPr>
          <a:xfrm>
            <a:off x="2139696" y="3291840"/>
            <a:ext cx="1481328" cy="548640"/>
          </a:xfrm>
          <a:prstGeom prst="rect">
            <a:avLst/>
          </a:prstGeom>
          <a:noFill/>
          <a:ln/>
        </p:spPr>
        <p:txBody>
          <a:bodyPr wrap="square" lIns="0" tIns="0" rIns="0" bIns="0" rtlCol="0" anchor="t"/>
          <a:lstStyle/>
          <a:p>
            <a:pPr algn="ctr" indent="0" marL="0">
              <a:buNone/>
            </a:pPr>
            <a:r>
              <a:rPr lang="en-US" sz="1200" dirty="0">
                <a:solidFill>
                  <a:srgbClr val="64748B"/>
                </a:solidFill>
                <a:latin typeface="Calibri" pitchFamily="34" charset="0"/>
                <a:ea typeface="Calibri" pitchFamily="34" charset="-122"/>
                <a:cs typeface="Calibri" pitchFamily="34" charset="-120"/>
              </a:rPr>
              <a:t>CI + read-only plan preview</a:t>
            </a:r>
            <a:endParaRPr lang="en-US" sz="1200" dirty="0"/>
          </a:p>
        </p:txBody>
      </p:sp>
      <p:sp>
        <p:nvSpPr>
          <p:cNvPr id="14" name="Shape 10"/>
          <p:cNvSpPr/>
          <p:nvPr/>
        </p:nvSpPr>
        <p:spPr>
          <a:xfrm>
            <a:off x="4059936" y="1920240"/>
            <a:ext cx="822960" cy="822960"/>
          </a:xfrm>
          <a:prstGeom prst="ellipse">
            <a:avLst/>
          </a:prstGeom>
          <a:solidFill>
            <a:srgbClr val="0E9F8E"/>
          </a:solidFill>
          <a:ln w="12700">
            <a:solidFill>
              <a:srgbClr val="0E9F8E"/>
            </a:solidFill>
            <a:prstDash val="solid"/>
          </a:ln>
        </p:spPr>
      </p:sp>
      <p:pic>
        <p:nvPicPr>
          <p:cNvPr id="15" name="Image 2" descr="preencoded.png">    </p:cNvPr>
          <p:cNvPicPr>
            <a:picLocks noChangeAspect="1"/>
          </p:cNvPicPr>
          <p:nvPr/>
        </p:nvPicPr>
        <p:blipFill>
          <a:blip r:embed="rId3"/>
          <a:stretch>
            <a:fillRect/>
          </a:stretch>
        </p:blipFill>
        <p:spPr>
          <a:xfrm>
            <a:off x="4265676" y="2125980"/>
            <a:ext cx="411480" cy="411480"/>
          </a:xfrm>
          <a:prstGeom prst="rect">
            <a:avLst/>
          </a:prstGeom>
        </p:spPr>
      </p:pic>
      <p:sp>
        <p:nvSpPr>
          <p:cNvPr id="16" name="Text 11"/>
          <p:cNvSpPr txBox="1"/>
          <p:nvPr/>
        </p:nvSpPr>
        <p:spPr>
          <a:xfrm>
            <a:off x="4654296" y="1828800"/>
            <a:ext cx="365760" cy="365760"/>
          </a:xfrm>
          <a:prstGeom prst="ellipse">
            <a:avLst/>
          </a:prstGeom>
          <a:solidFill>
            <a:srgbClr val="0F1B2D"/>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17" name="Text 12"/>
          <p:cNvSpPr txBox="1"/>
          <p:nvPr/>
        </p:nvSpPr>
        <p:spPr>
          <a:xfrm>
            <a:off x="3730752" y="2880360"/>
            <a:ext cx="1481328" cy="457200"/>
          </a:xfrm>
          <a:prstGeom prst="rect">
            <a:avLst/>
          </a:prstGeom>
          <a:noFill/>
          <a:ln/>
        </p:spPr>
        <p:txBody>
          <a:bodyPr wrap="square" lIns="0" tIns="0" rIns="0" bIns="0" rtlCol="0" anchor="ctr"/>
          <a:lstStyle/>
          <a:p>
            <a:pPr algn="ctr" indent="0" marL="0">
              <a:buNone/>
            </a:pPr>
            <a:r>
              <a:rPr lang="en-US" sz="1500" b="1" dirty="0">
                <a:solidFill>
                  <a:srgbClr val="0F1B2D"/>
                </a:solidFill>
                <a:latin typeface="Calibri" pitchFamily="34" charset="0"/>
                <a:ea typeface="Calibri" pitchFamily="34" charset="-122"/>
                <a:cs typeface="Calibri" pitchFamily="34" charset="-120"/>
              </a:rPr>
              <a:t>Manual approval</a:t>
            </a:r>
            <a:endParaRPr lang="en-US" sz="1500" dirty="0"/>
          </a:p>
        </p:txBody>
      </p:sp>
      <p:sp>
        <p:nvSpPr>
          <p:cNvPr id="18" name="Text 13"/>
          <p:cNvSpPr txBox="1"/>
          <p:nvPr/>
        </p:nvSpPr>
        <p:spPr>
          <a:xfrm>
            <a:off x="3730752" y="3291840"/>
            <a:ext cx="1481328" cy="548640"/>
          </a:xfrm>
          <a:prstGeom prst="rect">
            <a:avLst/>
          </a:prstGeom>
          <a:noFill/>
          <a:ln/>
        </p:spPr>
        <p:txBody>
          <a:bodyPr wrap="square" lIns="0" tIns="0" rIns="0" bIns="0" rtlCol="0" anchor="t"/>
          <a:lstStyle/>
          <a:p>
            <a:pPr algn="ctr" indent="0" marL="0">
              <a:buNone/>
            </a:pPr>
            <a:r>
              <a:rPr lang="en-US" sz="1200" dirty="0">
                <a:solidFill>
                  <a:srgbClr val="64748B"/>
                </a:solidFill>
                <a:latin typeface="Calibri" pitchFamily="34" charset="0"/>
                <a:ea typeface="Calibri" pitchFamily="34" charset="-122"/>
                <a:cs typeface="Calibri" pitchFamily="34" charset="-120"/>
              </a:rPr>
              <a:t>Required before merge</a:t>
            </a:r>
            <a:endParaRPr lang="en-US" sz="1200" dirty="0"/>
          </a:p>
        </p:txBody>
      </p:sp>
      <p:sp>
        <p:nvSpPr>
          <p:cNvPr id="19" name="Shape 14"/>
          <p:cNvSpPr/>
          <p:nvPr/>
        </p:nvSpPr>
        <p:spPr>
          <a:xfrm>
            <a:off x="5650992" y="1920240"/>
            <a:ext cx="822960" cy="822960"/>
          </a:xfrm>
          <a:prstGeom prst="ellipse">
            <a:avLst/>
          </a:prstGeom>
          <a:solidFill>
            <a:srgbClr val="0E9F8E"/>
          </a:solidFill>
          <a:ln w="12700">
            <a:solidFill>
              <a:srgbClr val="0E9F8E"/>
            </a:solidFill>
            <a:prstDash val="solid"/>
          </a:ln>
        </p:spPr>
      </p:sp>
      <p:pic>
        <p:nvPicPr>
          <p:cNvPr id="20" name="Image 3" descr="preencoded.png">    </p:cNvPr>
          <p:cNvPicPr>
            <a:picLocks noChangeAspect="1"/>
          </p:cNvPicPr>
          <p:nvPr/>
        </p:nvPicPr>
        <p:blipFill>
          <a:blip r:embed="rId4"/>
          <a:stretch>
            <a:fillRect/>
          </a:stretch>
        </p:blipFill>
        <p:spPr>
          <a:xfrm>
            <a:off x="5856732" y="2125980"/>
            <a:ext cx="411480" cy="411480"/>
          </a:xfrm>
          <a:prstGeom prst="rect">
            <a:avLst/>
          </a:prstGeom>
        </p:spPr>
      </p:pic>
      <p:sp>
        <p:nvSpPr>
          <p:cNvPr id="21" name="Text 15"/>
          <p:cNvSpPr txBox="1"/>
          <p:nvPr/>
        </p:nvSpPr>
        <p:spPr>
          <a:xfrm>
            <a:off x="6245352" y="1828800"/>
            <a:ext cx="365760" cy="365760"/>
          </a:xfrm>
          <a:prstGeom prst="ellipse">
            <a:avLst/>
          </a:prstGeom>
          <a:solidFill>
            <a:srgbClr val="0F1B2D"/>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22" name="Text 16"/>
          <p:cNvSpPr txBox="1"/>
          <p:nvPr/>
        </p:nvSpPr>
        <p:spPr>
          <a:xfrm>
            <a:off x="5321808" y="2880360"/>
            <a:ext cx="1481328" cy="457200"/>
          </a:xfrm>
          <a:prstGeom prst="rect">
            <a:avLst/>
          </a:prstGeom>
          <a:noFill/>
          <a:ln/>
        </p:spPr>
        <p:txBody>
          <a:bodyPr wrap="square" lIns="0" tIns="0" rIns="0" bIns="0" rtlCol="0" anchor="ctr"/>
          <a:lstStyle/>
          <a:p>
            <a:pPr algn="ctr" indent="0" marL="0">
              <a:buNone/>
            </a:pPr>
            <a:r>
              <a:rPr lang="en-US" sz="1500" b="1" dirty="0">
                <a:solidFill>
                  <a:srgbClr val="0F1B2D"/>
                </a:solidFill>
                <a:latin typeface="Calibri" pitchFamily="34" charset="0"/>
                <a:ea typeface="Calibri" pitchFamily="34" charset="-122"/>
                <a:cs typeface="Calibri" pitchFamily="34" charset="-120"/>
              </a:rPr>
              <a:t>Merge to main</a:t>
            </a:r>
            <a:endParaRPr lang="en-US" sz="1500" dirty="0"/>
          </a:p>
        </p:txBody>
      </p:sp>
      <p:sp>
        <p:nvSpPr>
          <p:cNvPr id="23" name="Text 17"/>
          <p:cNvSpPr txBox="1"/>
          <p:nvPr/>
        </p:nvSpPr>
        <p:spPr>
          <a:xfrm>
            <a:off x="5321808" y="3291840"/>
            <a:ext cx="1481328" cy="548640"/>
          </a:xfrm>
          <a:prstGeom prst="rect">
            <a:avLst/>
          </a:prstGeom>
          <a:noFill/>
          <a:ln/>
        </p:spPr>
        <p:txBody>
          <a:bodyPr wrap="square" lIns="0" tIns="0" rIns="0" bIns="0" rtlCol="0" anchor="t"/>
          <a:lstStyle/>
          <a:p>
            <a:pPr algn="ctr" indent="0" marL="0">
              <a:buNone/>
            </a:pPr>
            <a:r>
              <a:rPr lang="en-US" sz="1200" dirty="0">
                <a:solidFill>
                  <a:srgbClr val="64748B"/>
                </a:solidFill>
                <a:latin typeface="Calibri" pitchFamily="34" charset="0"/>
                <a:ea typeface="Calibri" pitchFamily="34" charset="-122"/>
                <a:cs typeface="Calibri" pitchFamily="34" charset="-120"/>
              </a:rPr>
              <a:t>Squash, protected branch</a:t>
            </a:r>
            <a:endParaRPr lang="en-US" sz="1200" dirty="0"/>
          </a:p>
        </p:txBody>
      </p:sp>
      <p:sp>
        <p:nvSpPr>
          <p:cNvPr id="24" name="Shape 18"/>
          <p:cNvSpPr/>
          <p:nvPr/>
        </p:nvSpPr>
        <p:spPr>
          <a:xfrm>
            <a:off x="7242048" y="1920240"/>
            <a:ext cx="822960" cy="822960"/>
          </a:xfrm>
          <a:prstGeom prst="ellipse">
            <a:avLst/>
          </a:prstGeom>
          <a:solidFill>
            <a:srgbClr val="F59E0B"/>
          </a:solidFill>
          <a:ln w="12700">
            <a:solidFill>
              <a:srgbClr val="F59E0B"/>
            </a:solidFill>
            <a:prstDash val="solid"/>
          </a:ln>
        </p:spPr>
      </p:sp>
      <p:pic>
        <p:nvPicPr>
          <p:cNvPr id="25" name="Image 4" descr="preencoded.png">    </p:cNvPr>
          <p:cNvPicPr>
            <a:picLocks noChangeAspect="1"/>
          </p:cNvPicPr>
          <p:nvPr/>
        </p:nvPicPr>
        <p:blipFill>
          <a:blip r:embed="rId5"/>
          <a:stretch>
            <a:fillRect/>
          </a:stretch>
        </p:blipFill>
        <p:spPr>
          <a:xfrm>
            <a:off x="7447788" y="2125980"/>
            <a:ext cx="411480" cy="411480"/>
          </a:xfrm>
          <a:prstGeom prst="rect">
            <a:avLst/>
          </a:prstGeom>
        </p:spPr>
      </p:pic>
      <p:sp>
        <p:nvSpPr>
          <p:cNvPr id="26" name="Text 19"/>
          <p:cNvSpPr txBox="1"/>
          <p:nvPr/>
        </p:nvSpPr>
        <p:spPr>
          <a:xfrm>
            <a:off x="7836408" y="1828800"/>
            <a:ext cx="365760" cy="365760"/>
          </a:xfrm>
          <a:prstGeom prst="ellipse">
            <a:avLst/>
          </a:prstGeom>
          <a:solidFill>
            <a:srgbClr val="0F1B2D"/>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5</a:t>
            </a:r>
            <a:endParaRPr lang="en-US" sz="1200" dirty="0"/>
          </a:p>
        </p:txBody>
      </p:sp>
      <p:sp>
        <p:nvSpPr>
          <p:cNvPr id="27" name="Text 20"/>
          <p:cNvSpPr txBox="1"/>
          <p:nvPr/>
        </p:nvSpPr>
        <p:spPr>
          <a:xfrm>
            <a:off x="6912864" y="2880360"/>
            <a:ext cx="1481328" cy="457200"/>
          </a:xfrm>
          <a:prstGeom prst="rect">
            <a:avLst/>
          </a:prstGeom>
          <a:noFill/>
          <a:ln/>
        </p:spPr>
        <p:txBody>
          <a:bodyPr wrap="square" lIns="0" tIns="0" rIns="0" bIns="0" rtlCol="0" anchor="ctr"/>
          <a:lstStyle/>
          <a:p>
            <a:pPr algn="ctr" indent="0" marL="0">
              <a:buNone/>
            </a:pPr>
            <a:r>
              <a:rPr lang="en-US" sz="1500" b="1" dirty="0">
                <a:solidFill>
                  <a:srgbClr val="0F1B2D"/>
                </a:solidFill>
                <a:latin typeface="Calibri" pitchFamily="34" charset="0"/>
                <a:ea typeface="Calibri" pitchFamily="34" charset="-122"/>
                <a:cs typeface="Calibri" pitchFamily="34" charset="-120"/>
              </a:rPr>
              <a:t>Build release</a:t>
            </a:r>
            <a:endParaRPr lang="en-US" sz="1500" dirty="0"/>
          </a:p>
        </p:txBody>
      </p:sp>
      <p:sp>
        <p:nvSpPr>
          <p:cNvPr id="28" name="Text 21"/>
          <p:cNvSpPr txBox="1"/>
          <p:nvPr/>
        </p:nvSpPr>
        <p:spPr>
          <a:xfrm>
            <a:off x="6912864" y="3291840"/>
            <a:ext cx="1481328" cy="548640"/>
          </a:xfrm>
          <a:prstGeom prst="rect">
            <a:avLst/>
          </a:prstGeom>
          <a:noFill/>
          <a:ln/>
        </p:spPr>
        <p:txBody>
          <a:bodyPr wrap="square" lIns="0" tIns="0" rIns="0" bIns="0" rtlCol="0" anchor="t"/>
          <a:lstStyle/>
          <a:p>
            <a:pPr algn="ctr" indent="0" marL="0">
              <a:buNone/>
            </a:pPr>
            <a:r>
              <a:rPr lang="en-US" sz="1200" dirty="0">
                <a:solidFill>
                  <a:srgbClr val="64748B"/>
                </a:solidFill>
                <a:latin typeface="Calibri" pitchFamily="34" charset="0"/>
                <a:ea typeface="Calibri" pitchFamily="34" charset="-122"/>
                <a:cs typeface="Calibri" pitchFamily="34" charset="-120"/>
              </a:rPr>
              <a:t>AMIs / images + Trivy</a:t>
            </a:r>
            <a:endParaRPr lang="en-US" sz="1200" dirty="0"/>
          </a:p>
        </p:txBody>
      </p:sp>
      <p:sp>
        <p:nvSpPr>
          <p:cNvPr id="29" name="Shape 22"/>
          <p:cNvSpPr/>
          <p:nvPr/>
        </p:nvSpPr>
        <p:spPr>
          <a:xfrm>
            <a:off x="8833104" y="1920240"/>
            <a:ext cx="822960" cy="822960"/>
          </a:xfrm>
          <a:prstGeom prst="ellipse">
            <a:avLst/>
          </a:prstGeom>
          <a:solidFill>
            <a:srgbClr val="F59E0B"/>
          </a:solidFill>
          <a:ln w="12700">
            <a:solidFill>
              <a:srgbClr val="F59E0B"/>
            </a:solidFill>
            <a:prstDash val="solid"/>
          </a:ln>
        </p:spPr>
      </p:sp>
      <p:pic>
        <p:nvPicPr>
          <p:cNvPr id="30" name="Image 5" descr="preencoded.png">    </p:cNvPr>
          <p:cNvPicPr>
            <a:picLocks noChangeAspect="1"/>
          </p:cNvPicPr>
          <p:nvPr/>
        </p:nvPicPr>
        <p:blipFill>
          <a:blip r:embed="rId6"/>
          <a:stretch>
            <a:fillRect/>
          </a:stretch>
        </p:blipFill>
        <p:spPr>
          <a:xfrm>
            <a:off x="9038844" y="2125980"/>
            <a:ext cx="411480" cy="411480"/>
          </a:xfrm>
          <a:prstGeom prst="rect">
            <a:avLst/>
          </a:prstGeom>
        </p:spPr>
      </p:pic>
      <p:sp>
        <p:nvSpPr>
          <p:cNvPr id="31" name="Text 23"/>
          <p:cNvSpPr txBox="1"/>
          <p:nvPr/>
        </p:nvSpPr>
        <p:spPr>
          <a:xfrm>
            <a:off x="9427464" y="1828800"/>
            <a:ext cx="365760" cy="365760"/>
          </a:xfrm>
          <a:prstGeom prst="ellipse">
            <a:avLst/>
          </a:prstGeom>
          <a:solidFill>
            <a:srgbClr val="0F1B2D"/>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6</a:t>
            </a:r>
            <a:endParaRPr lang="en-US" sz="1200" dirty="0"/>
          </a:p>
        </p:txBody>
      </p:sp>
      <p:sp>
        <p:nvSpPr>
          <p:cNvPr id="32" name="Text 24"/>
          <p:cNvSpPr txBox="1"/>
          <p:nvPr/>
        </p:nvSpPr>
        <p:spPr>
          <a:xfrm>
            <a:off x="8503920" y="2880360"/>
            <a:ext cx="1481328" cy="457200"/>
          </a:xfrm>
          <a:prstGeom prst="rect">
            <a:avLst/>
          </a:prstGeom>
          <a:noFill/>
          <a:ln/>
        </p:spPr>
        <p:txBody>
          <a:bodyPr wrap="square" lIns="0" tIns="0" rIns="0" bIns="0" rtlCol="0" anchor="ctr"/>
          <a:lstStyle/>
          <a:p>
            <a:pPr algn="ctr" indent="0" marL="0">
              <a:buNone/>
            </a:pPr>
            <a:r>
              <a:rPr lang="en-US" sz="1500" b="1" dirty="0">
                <a:solidFill>
                  <a:srgbClr val="0F1B2D"/>
                </a:solidFill>
                <a:latin typeface="Calibri" pitchFamily="34" charset="0"/>
                <a:ea typeface="Calibri" pitchFamily="34" charset="-122"/>
                <a:cs typeface="Calibri" pitchFamily="34" charset="-120"/>
              </a:rPr>
              <a:t>Deploy dev</a:t>
            </a:r>
            <a:endParaRPr lang="en-US" sz="1500" dirty="0"/>
          </a:p>
        </p:txBody>
      </p:sp>
      <p:sp>
        <p:nvSpPr>
          <p:cNvPr id="33" name="Text 25"/>
          <p:cNvSpPr txBox="1"/>
          <p:nvPr/>
        </p:nvSpPr>
        <p:spPr>
          <a:xfrm>
            <a:off x="8503920" y="3291840"/>
            <a:ext cx="1481328" cy="548640"/>
          </a:xfrm>
          <a:prstGeom prst="rect">
            <a:avLst/>
          </a:prstGeom>
          <a:noFill/>
          <a:ln/>
        </p:spPr>
        <p:txBody>
          <a:bodyPr wrap="square" lIns="0" tIns="0" rIns="0" bIns="0" rtlCol="0" anchor="t"/>
          <a:lstStyle/>
          <a:p>
            <a:pPr algn="ctr" indent="0" marL="0">
              <a:buNone/>
            </a:pPr>
            <a:r>
              <a:rPr lang="en-US" sz="1200" dirty="0">
                <a:solidFill>
                  <a:srgbClr val="64748B"/>
                </a:solidFill>
                <a:latin typeface="Calibri" pitchFamily="34" charset="0"/>
                <a:ea typeface="Calibri" pitchFamily="34" charset="-122"/>
                <a:cs typeface="Calibri" pitchFamily="34" charset="-120"/>
              </a:rPr>
              <a:t>Rollout + smoke tests</a:t>
            </a:r>
            <a:endParaRPr lang="en-US" sz="1200" dirty="0"/>
          </a:p>
        </p:txBody>
      </p:sp>
      <p:sp>
        <p:nvSpPr>
          <p:cNvPr id="34" name="Shape 26"/>
          <p:cNvSpPr/>
          <p:nvPr/>
        </p:nvSpPr>
        <p:spPr>
          <a:xfrm>
            <a:off x="10424160" y="1920240"/>
            <a:ext cx="822960" cy="822960"/>
          </a:xfrm>
          <a:prstGeom prst="ellipse">
            <a:avLst/>
          </a:prstGeom>
          <a:solidFill>
            <a:srgbClr val="F59E0B"/>
          </a:solidFill>
          <a:ln w="12700">
            <a:solidFill>
              <a:srgbClr val="F59E0B"/>
            </a:solidFill>
            <a:prstDash val="solid"/>
          </a:ln>
        </p:spPr>
      </p:sp>
      <p:pic>
        <p:nvPicPr>
          <p:cNvPr id="35" name="Image 6" descr="preencoded.png">    </p:cNvPr>
          <p:cNvPicPr>
            <a:picLocks noChangeAspect="1"/>
          </p:cNvPicPr>
          <p:nvPr/>
        </p:nvPicPr>
        <p:blipFill>
          <a:blip r:embed="rId7"/>
          <a:stretch>
            <a:fillRect/>
          </a:stretch>
        </p:blipFill>
        <p:spPr>
          <a:xfrm>
            <a:off x="10629900" y="2125980"/>
            <a:ext cx="411480" cy="411480"/>
          </a:xfrm>
          <a:prstGeom prst="rect">
            <a:avLst/>
          </a:prstGeom>
        </p:spPr>
      </p:pic>
      <p:sp>
        <p:nvSpPr>
          <p:cNvPr id="36" name="Text 27"/>
          <p:cNvSpPr txBox="1"/>
          <p:nvPr/>
        </p:nvSpPr>
        <p:spPr>
          <a:xfrm>
            <a:off x="11018520" y="1828800"/>
            <a:ext cx="365760" cy="365760"/>
          </a:xfrm>
          <a:prstGeom prst="ellipse">
            <a:avLst/>
          </a:prstGeom>
          <a:solidFill>
            <a:srgbClr val="0F1B2D"/>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7</a:t>
            </a:r>
            <a:endParaRPr lang="en-US" sz="1200" dirty="0"/>
          </a:p>
        </p:txBody>
      </p:sp>
      <p:sp>
        <p:nvSpPr>
          <p:cNvPr id="37" name="Text 28"/>
          <p:cNvSpPr txBox="1"/>
          <p:nvPr/>
        </p:nvSpPr>
        <p:spPr>
          <a:xfrm>
            <a:off x="10094976" y="2880360"/>
            <a:ext cx="1481328" cy="457200"/>
          </a:xfrm>
          <a:prstGeom prst="rect">
            <a:avLst/>
          </a:prstGeom>
          <a:noFill/>
          <a:ln/>
        </p:spPr>
        <p:txBody>
          <a:bodyPr wrap="square" lIns="0" tIns="0" rIns="0" bIns="0" rtlCol="0" anchor="ctr"/>
          <a:lstStyle/>
          <a:p>
            <a:pPr algn="ctr" indent="0" marL="0">
              <a:buNone/>
            </a:pPr>
            <a:r>
              <a:rPr lang="en-US" sz="1500" b="1" dirty="0">
                <a:solidFill>
                  <a:srgbClr val="0F1B2D"/>
                </a:solidFill>
                <a:latin typeface="Calibri" pitchFamily="34" charset="0"/>
                <a:ea typeface="Calibri" pitchFamily="34" charset="-122"/>
                <a:cs typeface="Calibri" pitchFamily="34" charset="-120"/>
              </a:rPr>
              <a:t>Deploy prod</a:t>
            </a:r>
            <a:endParaRPr lang="en-US" sz="1500" dirty="0"/>
          </a:p>
        </p:txBody>
      </p:sp>
      <p:sp>
        <p:nvSpPr>
          <p:cNvPr id="38" name="Text 29"/>
          <p:cNvSpPr txBox="1"/>
          <p:nvPr/>
        </p:nvSpPr>
        <p:spPr>
          <a:xfrm>
            <a:off x="10094976" y="3291840"/>
            <a:ext cx="1481328" cy="548640"/>
          </a:xfrm>
          <a:prstGeom prst="rect">
            <a:avLst/>
          </a:prstGeom>
          <a:noFill/>
          <a:ln/>
        </p:spPr>
        <p:txBody>
          <a:bodyPr wrap="square" lIns="0" tIns="0" rIns="0" bIns="0" rtlCol="0" anchor="t"/>
          <a:lstStyle/>
          <a:p>
            <a:pPr algn="ctr" indent="0" marL="0">
              <a:buNone/>
            </a:pPr>
            <a:r>
              <a:rPr lang="en-US" sz="1200" dirty="0">
                <a:solidFill>
                  <a:srgbClr val="64748B"/>
                </a:solidFill>
                <a:latin typeface="Calibri" pitchFamily="34" charset="0"/>
                <a:ea typeface="Calibri" pitchFamily="34" charset="-122"/>
                <a:cs typeface="Calibri" pitchFamily="34" charset="-120"/>
              </a:rPr>
              <a:t>After approval + smoke tests</a:t>
            </a:r>
            <a:endParaRPr lang="en-US" sz="1200" dirty="0"/>
          </a:p>
        </p:txBody>
      </p:sp>
      <p:sp>
        <p:nvSpPr>
          <p:cNvPr id="39" name="Text 30"/>
          <p:cNvSpPr txBox="1"/>
          <p:nvPr/>
        </p:nvSpPr>
        <p:spPr>
          <a:xfrm>
            <a:off x="548640" y="1508760"/>
            <a:ext cx="6254496" cy="274320"/>
          </a:xfrm>
          <a:prstGeom prst="rect">
            <a:avLst/>
          </a:prstGeom>
          <a:noFill/>
          <a:ln/>
        </p:spPr>
        <p:txBody>
          <a:bodyPr wrap="square" lIns="0" tIns="0" rIns="0" bIns="0" rtlCol="0" anchor="ctr"/>
          <a:lstStyle/>
          <a:p>
            <a:pPr algn="ctr" indent="0" marL="0">
              <a:buNone/>
            </a:pPr>
            <a:r>
              <a:rPr lang="en-US" sz="1200" b="1" dirty="0">
                <a:solidFill>
                  <a:srgbClr val="0E9F8E"/>
                </a:solidFill>
                <a:latin typeface="Calibri" pitchFamily="34" charset="0"/>
                <a:ea typeface="Calibri" pitchFamily="34" charset="-122"/>
                <a:cs typeface="Calibri" pitchFamily="34" charset="-120"/>
              </a:rPr>
              <a:t>Pull request</a:t>
            </a:r>
            <a:endParaRPr lang="en-US" sz="1200" dirty="0"/>
          </a:p>
        </p:txBody>
      </p:sp>
      <p:sp>
        <p:nvSpPr>
          <p:cNvPr id="40" name="Text 31"/>
          <p:cNvSpPr txBox="1"/>
          <p:nvPr/>
        </p:nvSpPr>
        <p:spPr>
          <a:xfrm>
            <a:off x="6912864" y="1508760"/>
            <a:ext cx="4663440" cy="274320"/>
          </a:xfrm>
          <a:prstGeom prst="rect">
            <a:avLst/>
          </a:prstGeom>
          <a:noFill/>
          <a:ln/>
        </p:spPr>
        <p:txBody>
          <a:bodyPr wrap="square" lIns="0" tIns="0" rIns="0" bIns="0" rtlCol="0" anchor="ctr"/>
          <a:lstStyle/>
          <a:p>
            <a:pPr algn="ctr" indent="0" marL="0">
              <a:buNone/>
            </a:pPr>
            <a:r>
              <a:rPr lang="en-US" sz="1200" b="1" dirty="0">
                <a:solidFill>
                  <a:srgbClr val="F59E0B"/>
                </a:solidFill>
                <a:latin typeface="Calibri" pitchFamily="34" charset="0"/>
                <a:ea typeface="Calibri" pitchFamily="34" charset="-122"/>
                <a:cs typeface="Calibri" pitchFamily="34" charset="-120"/>
              </a:rPr>
              <a:t>Deploy (on main)</a:t>
            </a:r>
            <a:endParaRPr lang="en-US" sz="1200" dirty="0"/>
          </a:p>
        </p:txBody>
      </p:sp>
      <p:sp>
        <p:nvSpPr>
          <p:cNvPr id="41" name="Shape 32"/>
          <p:cNvSpPr/>
          <p:nvPr/>
        </p:nvSpPr>
        <p:spPr>
          <a:xfrm>
            <a:off x="548640" y="4343400"/>
            <a:ext cx="3538728" cy="1874520"/>
          </a:xfrm>
          <a:prstGeom prst="roundRect">
            <a:avLst>
              <a:gd name="adj" fmla="val 5854"/>
            </a:avLst>
          </a:prstGeom>
          <a:solidFill>
            <a:srgbClr val="F1F5F9"/>
          </a:solidFill>
          <a:ln w="12700">
            <a:solidFill>
              <a:srgbClr val="F1F5F9"/>
            </a:solidFill>
            <a:prstDash val="solid"/>
          </a:ln>
        </p:spPr>
      </p:sp>
      <p:sp>
        <p:nvSpPr>
          <p:cNvPr id="42" name="Shape 33"/>
          <p:cNvSpPr/>
          <p:nvPr/>
        </p:nvSpPr>
        <p:spPr>
          <a:xfrm>
            <a:off x="822960" y="4526280"/>
            <a:ext cx="548640" cy="548640"/>
          </a:xfrm>
          <a:prstGeom prst="ellipse">
            <a:avLst/>
          </a:prstGeom>
          <a:solidFill>
            <a:srgbClr val="0F1B2D"/>
          </a:solidFill>
          <a:ln w="12700">
            <a:solidFill>
              <a:srgbClr val="0F1B2D"/>
            </a:solidFill>
            <a:prstDash val="solid"/>
          </a:ln>
        </p:spPr>
      </p:sp>
      <p:pic>
        <p:nvPicPr>
          <p:cNvPr id="43" name="Image 7" descr="preencoded.png">    </p:cNvPr>
          <p:cNvPicPr>
            <a:picLocks noChangeAspect="1"/>
          </p:cNvPicPr>
          <p:nvPr/>
        </p:nvPicPr>
        <p:blipFill>
          <a:blip r:embed="rId8"/>
          <a:stretch>
            <a:fillRect/>
          </a:stretch>
        </p:blipFill>
        <p:spPr>
          <a:xfrm>
            <a:off x="960120" y="4663440"/>
            <a:ext cx="274320" cy="274320"/>
          </a:xfrm>
          <a:prstGeom prst="rect">
            <a:avLst/>
          </a:prstGeom>
        </p:spPr>
      </p:pic>
      <p:sp>
        <p:nvSpPr>
          <p:cNvPr id="44" name="Text 34"/>
          <p:cNvSpPr txBox="1"/>
          <p:nvPr/>
        </p:nvSpPr>
        <p:spPr>
          <a:xfrm>
            <a:off x="1508760" y="4526280"/>
            <a:ext cx="2468880" cy="548640"/>
          </a:xfrm>
          <a:prstGeom prst="rect">
            <a:avLst/>
          </a:prstGeom>
          <a:noFill/>
          <a:ln/>
        </p:spPr>
        <p:txBody>
          <a:bodyPr wrap="square" lIns="0" tIns="0" rIns="0" bIns="0" rtlCol="0" anchor="ctr"/>
          <a:lstStyle/>
          <a:p>
            <a:pPr indent="0" marL="0">
              <a:buNone/>
            </a:pPr>
            <a:r>
              <a:rPr lang="en-US" sz="1700" b="1" dirty="0">
                <a:solidFill>
                  <a:srgbClr val="0F1B2D"/>
                </a:solidFill>
                <a:latin typeface="Calibri" pitchFamily="34" charset="0"/>
                <a:ea typeface="Calibri" pitchFamily="34" charset="-122"/>
                <a:cs typeface="Calibri" pitchFamily="34" charset="-120"/>
              </a:rPr>
              <a:t>Automatic rollback</a:t>
            </a:r>
            <a:endParaRPr lang="en-US" sz="1700" dirty="0"/>
          </a:p>
        </p:txBody>
      </p:sp>
      <p:sp>
        <p:nvSpPr>
          <p:cNvPr id="45" name="Text 35"/>
          <p:cNvSpPr txBox="1"/>
          <p:nvPr/>
        </p:nvSpPr>
        <p:spPr>
          <a:xfrm>
            <a:off x="822960" y="5166360"/>
            <a:ext cx="3063240" cy="960120"/>
          </a:xfrm>
          <a:prstGeom prst="rect">
            <a:avLst/>
          </a:prstGeom>
          <a:noFill/>
          <a:ln/>
        </p:spPr>
        <p:txBody>
          <a:bodyPr wrap="square" lIns="0" tIns="0" rIns="0" bIns="0" rtlCol="0" anchor="t"/>
          <a:lstStyle/>
          <a:p>
            <a:pPr indent="0" marL="0">
              <a:buNone/>
            </a:pPr>
            <a:r>
              <a:rPr lang="en-US" sz="1400" dirty="0">
                <a:solidFill>
                  <a:srgbClr val="1E293B"/>
                </a:solidFill>
                <a:latin typeface="Calibri" pitchFamily="34" charset="0"/>
                <a:ea typeface="Calibri" pitchFamily="34" charset="-122"/>
                <a:cs typeface="Calibri" pitchFamily="34" charset="-120"/>
              </a:rPr>
              <a:t>If the rollout or smoke tests fail, the last good release is redeployed and re-tested.</a:t>
            </a:r>
            <a:endParaRPr lang="en-US" sz="1400" dirty="0"/>
          </a:p>
        </p:txBody>
      </p:sp>
      <p:sp>
        <p:nvSpPr>
          <p:cNvPr id="46" name="Shape 36"/>
          <p:cNvSpPr/>
          <p:nvPr/>
        </p:nvSpPr>
        <p:spPr>
          <a:xfrm>
            <a:off x="4325112" y="4343400"/>
            <a:ext cx="3538728" cy="1874520"/>
          </a:xfrm>
          <a:prstGeom prst="roundRect">
            <a:avLst>
              <a:gd name="adj" fmla="val 5854"/>
            </a:avLst>
          </a:prstGeom>
          <a:solidFill>
            <a:srgbClr val="F1F5F9"/>
          </a:solidFill>
          <a:ln w="12700">
            <a:solidFill>
              <a:srgbClr val="F1F5F9"/>
            </a:solidFill>
            <a:prstDash val="solid"/>
          </a:ln>
        </p:spPr>
      </p:sp>
      <p:sp>
        <p:nvSpPr>
          <p:cNvPr id="47" name="Shape 37"/>
          <p:cNvSpPr/>
          <p:nvPr/>
        </p:nvSpPr>
        <p:spPr>
          <a:xfrm>
            <a:off x="4599432" y="4526280"/>
            <a:ext cx="548640" cy="548640"/>
          </a:xfrm>
          <a:prstGeom prst="ellipse">
            <a:avLst/>
          </a:prstGeom>
          <a:solidFill>
            <a:srgbClr val="0F1B2D"/>
          </a:solidFill>
          <a:ln w="12700">
            <a:solidFill>
              <a:srgbClr val="0F1B2D"/>
            </a:solidFill>
            <a:prstDash val="solid"/>
          </a:ln>
        </p:spPr>
      </p:sp>
      <p:pic>
        <p:nvPicPr>
          <p:cNvPr id="48" name="Image 8" descr="preencoded.png">    </p:cNvPr>
          <p:cNvPicPr>
            <a:picLocks noChangeAspect="1"/>
          </p:cNvPicPr>
          <p:nvPr/>
        </p:nvPicPr>
        <p:blipFill>
          <a:blip r:embed="rId9"/>
          <a:stretch>
            <a:fillRect/>
          </a:stretch>
        </p:blipFill>
        <p:spPr>
          <a:xfrm>
            <a:off x="4736592" y="4663440"/>
            <a:ext cx="274320" cy="274320"/>
          </a:xfrm>
          <a:prstGeom prst="rect">
            <a:avLst/>
          </a:prstGeom>
        </p:spPr>
      </p:pic>
      <p:sp>
        <p:nvSpPr>
          <p:cNvPr id="49" name="Text 38"/>
          <p:cNvSpPr txBox="1"/>
          <p:nvPr/>
        </p:nvSpPr>
        <p:spPr>
          <a:xfrm>
            <a:off x="5285232" y="4526280"/>
            <a:ext cx="2468880" cy="548640"/>
          </a:xfrm>
          <a:prstGeom prst="rect">
            <a:avLst/>
          </a:prstGeom>
          <a:noFill/>
          <a:ln/>
        </p:spPr>
        <p:txBody>
          <a:bodyPr wrap="square" lIns="0" tIns="0" rIns="0" bIns="0" rtlCol="0" anchor="ctr"/>
          <a:lstStyle/>
          <a:p>
            <a:pPr indent="0" marL="0">
              <a:buNone/>
            </a:pPr>
            <a:r>
              <a:rPr lang="en-US" sz="1700" b="1" dirty="0">
                <a:solidFill>
                  <a:srgbClr val="0F1B2D"/>
                </a:solidFill>
                <a:latin typeface="Calibri" pitchFamily="34" charset="0"/>
                <a:ea typeface="Calibri" pitchFamily="34" charset="-122"/>
                <a:cs typeface="Calibri" pitchFamily="34" charset="-120"/>
              </a:rPr>
              <a:t>Destroy guard</a:t>
            </a:r>
            <a:endParaRPr lang="en-US" sz="1700" dirty="0"/>
          </a:p>
        </p:txBody>
      </p:sp>
      <p:sp>
        <p:nvSpPr>
          <p:cNvPr id="50" name="Text 39"/>
          <p:cNvSpPr txBox="1"/>
          <p:nvPr/>
        </p:nvSpPr>
        <p:spPr>
          <a:xfrm>
            <a:off x="4599432" y="5166360"/>
            <a:ext cx="3063240" cy="960120"/>
          </a:xfrm>
          <a:prstGeom prst="rect">
            <a:avLst/>
          </a:prstGeom>
          <a:noFill/>
          <a:ln/>
        </p:spPr>
        <p:txBody>
          <a:bodyPr wrap="square" lIns="0" tIns="0" rIns="0" bIns="0" rtlCol="0" anchor="t"/>
          <a:lstStyle/>
          <a:p>
            <a:pPr indent="0" marL="0">
              <a:buNone/>
            </a:pPr>
            <a:r>
              <a:rPr lang="en-US" sz="1400" dirty="0">
                <a:solidFill>
                  <a:srgbClr val="1E293B"/>
                </a:solidFill>
                <a:latin typeface="Calibri" pitchFamily="34" charset="0"/>
                <a:ea typeface="Calibri" pitchFamily="34" charset="-122"/>
                <a:cs typeface="Calibri" pitchFamily="34" charset="-120"/>
              </a:rPr>
              <a:t>A plan that deletes or replaces the database, a load balancer or a KMS key stops the deploy.</a:t>
            </a:r>
            <a:endParaRPr lang="en-US" sz="1400" dirty="0"/>
          </a:p>
        </p:txBody>
      </p:sp>
      <p:sp>
        <p:nvSpPr>
          <p:cNvPr id="51" name="Shape 40"/>
          <p:cNvSpPr/>
          <p:nvPr/>
        </p:nvSpPr>
        <p:spPr>
          <a:xfrm>
            <a:off x="8101584" y="4343400"/>
            <a:ext cx="3538728" cy="1874520"/>
          </a:xfrm>
          <a:prstGeom prst="roundRect">
            <a:avLst>
              <a:gd name="adj" fmla="val 5854"/>
            </a:avLst>
          </a:prstGeom>
          <a:solidFill>
            <a:srgbClr val="F1F5F9"/>
          </a:solidFill>
          <a:ln w="12700">
            <a:solidFill>
              <a:srgbClr val="F1F5F9"/>
            </a:solidFill>
            <a:prstDash val="solid"/>
          </a:ln>
        </p:spPr>
      </p:sp>
      <p:sp>
        <p:nvSpPr>
          <p:cNvPr id="52" name="Shape 41"/>
          <p:cNvSpPr/>
          <p:nvPr/>
        </p:nvSpPr>
        <p:spPr>
          <a:xfrm>
            <a:off x="8375904" y="4526280"/>
            <a:ext cx="548640" cy="548640"/>
          </a:xfrm>
          <a:prstGeom prst="ellipse">
            <a:avLst/>
          </a:prstGeom>
          <a:solidFill>
            <a:srgbClr val="0F1B2D"/>
          </a:solidFill>
          <a:ln w="12700">
            <a:solidFill>
              <a:srgbClr val="0F1B2D"/>
            </a:solidFill>
            <a:prstDash val="solid"/>
          </a:ln>
        </p:spPr>
      </p:sp>
      <p:pic>
        <p:nvPicPr>
          <p:cNvPr id="53" name="Image 9" descr="preencoded.png">    </p:cNvPr>
          <p:cNvPicPr>
            <a:picLocks noChangeAspect="1"/>
          </p:cNvPicPr>
          <p:nvPr/>
        </p:nvPicPr>
        <p:blipFill>
          <a:blip r:embed="rId10"/>
          <a:stretch>
            <a:fillRect/>
          </a:stretch>
        </p:blipFill>
        <p:spPr>
          <a:xfrm>
            <a:off x="8513064" y="4663440"/>
            <a:ext cx="274320" cy="274320"/>
          </a:xfrm>
          <a:prstGeom prst="rect">
            <a:avLst/>
          </a:prstGeom>
        </p:spPr>
      </p:pic>
      <p:sp>
        <p:nvSpPr>
          <p:cNvPr id="54" name="Text 42"/>
          <p:cNvSpPr txBox="1"/>
          <p:nvPr/>
        </p:nvSpPr>
        <p:spPr>
          <a:xfrm>
            <a:off x="9061704" y="4526280"/>
            <a:ext cx="2468880" cy="548640"/>
          </a:xfrm>
          <a:prstGeom prst="rect">
            <a:avLst/>
          </a:prstGeom>
          <a:noFill/>
          <a:ln/>
        </p:spPr>
        <p:txBody>
          <a:bodyPr wrap="square" lIns="0" tIns="0" rIns="0" bIns="0" rtlCol="0" anchor="ctr"/>
          <a:lstStyle/>
          <a:p>
            <a:pPr indent="0" marL="0">
              <a:buNone/>
            </a:pPr>
            <a:r>
              <a:rPr lang="en-US" sz="1700" b="1" dirty="0">
                <a:solidFill>
                  <a:srgbClr val="0F1B2D"/>
                </a:solidFill>
                <a:latin typeface="Calibri" pitchFamily="34" charset="0"/>
                <a:ea typeface="Calibri" pitchFamily="34" charset="-122"/>
                <a:cs typeface="Calibri" pitchFamily="34" charset="-120"/>
              </a:rPr>
              <a:t>Slack everywhere</a:t>
            </a:r>
            <a:endParaRPr lang="en-US" sz="1700" dirty="0"/>
          </a:p>
        </p:txBody>
      </p:sp>
      <p:sp>
        <p:nvSpPr>
          <p:cNvPr id="55" name="Text 43"/>
          <p:cNvSpPr txBox="1"/>
          <p:nvPr/>
        </p:nvSpPr>
        <p:spPr>
          <a:xfrm>
            <a:off x="8375904" y="5166360"/>
            <a:ext cx="3063240" cy="960120"/>
          </a:xfrm>
          <a:prstGeom prst="rect">
            <a:avLst/>
          </a:prstGeom>
          <a:noFill/>
          <a:ln/>
        </p:spPr>
        <p:txBody>
          <a:bodyPr wrap="square" lIns="0" tIns="0" rIns="0" bIns="0" rtlCol="0" anchor="t"/>
          <a:lstStyle/>
          <a:p>
            <a:pPr indent="0" marL="0">
              <a:buNone/>
            </a:pPr>
            <a:r>
              <a:rPr lang="en-US" sz="1400" dirty="0">
                <a:solidFill>
                  <a:srgbClr val="1E293B"/>
                </a:solidFill>
                <a:latin typeface="Calibri" pitchFamily="34" charset="0"/>
                <a:ea typeface="Calibri" pitchFamily="34" charset="-122"/>
                <a:cs typeface="Calibri" pitchFamily="34" charset="-120"/>
              </a:rPr>
              <a:t>Deploy results, prod waiting for approval (approve from Slack), rollbacks and failures.</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3400" b="1" dirty="0">
                <a:solidFill>
                  <a:srgbClr val="0F1B2D"/>
                </a:solidFill>
                <a:latin typeface="Arial" pitchFamily="34" charset="0"/>
                <a:ea typeface="Arial" pitchFamily="34" charset="-122"/>
                <a:cs typeface="Arial" pitchFamily="34" charset="-120"/>
              </a:rPr>
              <a:t>Quality and security gates</a:t>
            </a:r>
            <a:endParaRPr lang="en-US" sz="3400" dirty="0"/>
          </a:p>
        </p:txBody>
      </p:sp>
      <p:sp>
        <p:nvSpPr>
          <p:cNvPr id="3" name="Text 1"/>
          <p:cNvSpPr txBox="1"/>
          <p:nvPr/>
        </p:nvSpPr>
        <p:spPr>
          <a:xfrm>
            <a:off x="548640" y="1051560"/>
            <a:ext cx="11064240" cy="411480"/>
          </a:xfrm>
          <a:prstGeom prst="rect">
            <a:avLst/>
          </a:prstGeom>
          <a:noFill/>
          <a:ln/>
        </p:spPr>
        <p:txBody>
          <a:bodyPr wrap="square" lIns="0" tIns="0" rIns="0" bIns="0" rtlCol="0" anchor="ctr"/>
          <a:lstStyle/>
          <a:p>
            <a:pPr indent="0" marL="0">
              <a:buNone/>
            </a:pPr>
            <a:r>
              <a:rPr lang="en-US" sz="1600" dirty="0">
                <a:solidFill>
                  <a:srgbClr val="64748B"/>
                </a:solidFill>
                <a:latin typeface="Calibri" pitchFamily="34" charset="0"/>
                <a:ea typeface="Calibri" pitchFamily="34" charset="-122"/>
                <a:cs typeface="Calibri" pitchFamily="34" charset="-120"/>
              </a:rPr>
              <a:t>Nothing is deployed without passing every check</a:t>
            </a:r>
            <a:endParaRPr lang="en-US" sz="1600" dirty="0"/>
          </a:p>
        </p:txBody>
      </p:sp>
      <p:sp>
        <p:nvSpPr>
          <p:cNvPr id="4" name="Shape 2"/>
          <p:cNvSpPr/>
          <p:nvPr/>
        </p:nvSpPr>
        <p:spPr>
          <a:xfrm>
            <a:off x="548640" y="1783080"/>
            <a:ext cx="3108960" cy="4434840"/>
          </a:xfrm>
          <a:prstGeom prst="roundRect">
            <a:avLst>
              <a:gd name="adj" fmla="val 3529"/>
            </a:avLst>
          </a:prstGeom>
          <a:solidFill>
            <a:srgbClr val="0F1B2D"/>
          </a:solidFill>
          <a:ln w="12700">
            <a:solidFill>
              <a:srgbClr val="0F1B2D"/>
            </a:solidFill>
            <a:prstDash val="solid"/>
          </a:ln>
        </p:spPr>
      </p:sp>
      <p:sp>
        <p:nvSpPr>
          <p:cNvPr id="5" name="Text 3"/>
          <p:cNvSpPr txBox="1"/>
          <p:nvPr/>
        </p:nvSpPr>
        <p:spPr>
          <a:xfrm>
            <a:off x="548640" y="2194560"/>
            <a:ext cx="3108960" cy="1463040"/>
          </a:xfrm>
          <a:prstGeom prst="rect">
            <a:avLst/>
          </a:prstGeom>
          <a:noFill/>
          <a:ln/>
        </p:spPr>
        <p:txBody>
          <a:bodyPr wrap="square" lIns="0" tIns="0" rIns="0" bIns="0" rtlCol="0" anchor="ctr"/>
          <a:lstStyle/>
          <a:p>
            <a:pPr algn="ctr" indent="0" marL="0">
              <a:buNone/>
            </a:pPr>
            <a:r>
              <a:rPr lang="en-US" sz="9600" b="1" dirty="0">
                <a:solidFill>
                  <a:srgbClr val="F59E0B"/>
                </a:solidFill>
                <a:latin typeface="Arial" pitchFamily="34" charset="0"/>
                <a:ea typeface="Arial" pitchFamily="34" charset="-122"/>
                <a:cs typeface="Arial" pitchFamily="34" charset="-120"/>
              </a:rPr>
              <a:t>8</a:t>
            </a:r>
            <a:endParaRPr lang="en-US" sz="9600" dirty="0"/>
          </a:p>
        </p:txBody>
      </p:sp>
      <p:sp>
        <p:nvSpPr>
          <p:cNvPr id="6" name="Text 4"/>
          <p:cNvSpPr txBox="1"/>
          <p:nvPr/>
        </p:nvSpPr>
        <p:spPr>
          <a:xfrm>
            <a:off x="822960" y="3703320"/>
            <a:ext cx="2560320" cy="8229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required checks on every pull request</a:t>
            </a:r>
            <a:endParaRPr lang="en-US" sz="1800" dirty="0"/>
          </a:p>
        </p:txBody>
      </p:sp>
      <p:sp>
        <p:nvSpPr>
          <p:cNvPr id="7" name="Text 5"/>
          <p:cNvSpPr txBox="1"/>
          <p:nvPr/>
        </p:nvSpPr>
        <p:spPr>
          <a:xfrm>
            <a:off x="822960" y="4663440"/>
            <a:ext cx="2560320" cy="914400"/>
          </a:xfrm>
          <a:prstGeom prst="rect">
            <a:avLst/>
          </a:prstGeom>
          <a:noFill/>
          <a:ln/>
        </p:spPr>
        <p:txBody>
          <a:bodyPr wrap="square" lIns="0" tIns="0" rIns="0" bIns="0" rtlCol="0" anchor="ctr"/>
          <a:lstStyle/>
          <a:p>
            <a:pPr algn="ctr" indent="0" marL="0">
              <a:buNone/>
            </a:pPr>
            <a:r>
              <a:rPr lang="en-US" sz="1400" dirty="0">
                <a:solidFill>
                  <a:srgbClr val="CBD5E1"/>
                </a:solidFill>
                <a:latin typeface="Calibri" pitchFamily="34" charset="0"/>
                <a:ea typeface="Calibri" pitchFamily="34" charset="-122"/>
                <a:cs typeface="Calibri" pitchFamily="34" charset="-120"/>
              </a:rPr>
              <a:t>+ a read-only Terraform plan for each deployed environment</a:t>
            </a:r>
            <a:endParaRPr lang="en-US" sz="1400" dirty="0"/>
          </a:p>
        </p:txBody>
      </p:sp>
      <p:sp>
        <p:nvSpPr>
          <p:cNvPr id="8" name="Shape 6"/>
          <p:cNvSpPr/>
          <p:nvPr/>
        </p:nvSpPr>
        <p:spPr>
          <a:xfrm>
            <a:off x="3931920" y="1783080"/>
            <a:ext cx="3794760" cy="1325880"/>
          </a:xfrm>
          <a:prstGeom prst="roundRect">
            <a:avLst>
              <a:gd name="adj" fmla="val 8276"/>
            </a:avLst>
          </a:prstGeom>
          <a:solidFill>
            <a:srgbClr val="F1F5F9"/>
          </a:solidFill>
          <a:ln w="12700">
            <a:solidFill>
              <a:srgbClr val="F1F5F9"/>
            </a:solidFill>
            <a:prstDash val="solid"/>
          </a:ln>
        </p:spPr>
      </p:sp>
      <p:sp>
        <p:nvSpPr>
          <p:cNvPr id="9" name="Shape 7"/>
          <p:cNvSpPr/>
          <p:nvPr/>
        </p:nvSpPr>
        <p:spPr>
          <a:xfrm>
            <a:off x="4160520" y="2057400"/>
            <a:ext cx="731520" cy="731520"/>
          </a:xfrm>
          <a:prstGeom prst="ellipse">
            <a:avLst/>
          </a:prstGeom>
          <a:solidFill>
            <a:srgbClr val="F59E0B"/>
          </a:solidFill>
          <a:ln w="12700">
            <a:solidFill>
              <a:srgbClr val="F59E0B"/>
            </a:solidFill>
            <a:prstDash val="solid"/>
          </a:ln>
        </p:spPr>
      </p:sp>
      <p:pic>
        <p:nvPicPr>
          <p:cNvPr id="10" name="Image 0" descr="preencoded.png">    </p:cNvPr>
          <p:cNvPicPr>
            <a:picLocks noChangeAspect="1"/>
          </p:cNvPicPr>
          <p:nvPr/>
        </p:nvPicPr>
        <p:blipFill>
          <a:blip r:embed="rId1"/>
          <a:stretch>
            <a:fillRect/>
          </a:stretch>
        </p:blipFill>
        <p:spPr>
          <a:xfrm>
            <a:off x="4343400" y="2240280"/>
            <a:ext cx="365760" cy="365760"/>
          </a:xfrm>
          <a:prstGeom prst="rect">
            <a:avLst/>
          </a:prstGeom>
        </p:spPr>
      </p:pic>
      <p:sp>
        <p:nvSpPr>
          <p:cNvPr id="11" name="Text 8"/>
          <p:cNvSpPr txBox="1"/>
          <p:nvPr/>
        </p:nvSpPr>
        <p:spPr>
          <a:xfrm>
            <a:off x="5074920" y="1965960"/>
            <a:ext cx="2514600" cy="960120"/>
          </a:xfrm>
          <a:prstGeom prst="rect">
            <a:avLst/>
          </a:prstGeom>
          <a:noFill/>
          <a:ln/>
        </p:spPr>
        <p:txBody>
          <a:bodyPr wrap="square" lIns="0" tIns="0" rIns="0" bIns="0" rtlCol="0" anchor="ctr"/>
          <a:lstStyle/>
          <a:p>
            <a:pPr indent="0" marL="0">
              <a:buNone/>
            </a:pPr>
            <a:r>
              <a:rPr lang="en-US" sz="1700" b="1" dirty="0">
                <a:solidFill>
                  <a:srgbClr val="0F1B2D"/>
                </a:solidFill>
                <a:latin typeface="Calibri" pitchFamily="34" charset="0"/>
                <a:ea typeface="Calibri" pitchFamily="34" charset="-122"/>
                <a:cs typeface="Calibri" pitchFamily="34" charset="-120"/>
              </a:rPr>
              <a:t>Lint + unit tests</a:t>
            </a:r>
            <a:endParaRPr lang="en-US" sz="1700" dirty="0"/>
          </a:p>
          <a:p>
            <a:pPr indent="0" marL="0">
              <a:buNone/>
            </a:pPr>
            <a:r>
              <a:rPr lang="en-US" sz="1300" dirty="0">
                <a:solidFill>
                  <a:srgbClr val="64748B"/>
                </a:solidFill>
                <a:latin typeface="Calibri" pitchFamily="34" charset="0"/>
                <a:ea typeface="Calibri" pitchFamily="34" charset="-122"/>
                <a:cs typeface="Calibri" pitchFamily="34" charset="-120"/>
              </a:rPr>
              <a:t>ruff, pytest, eslint, jest</a:t>
            </a:r>
            <a:endParaRPr lang="en-US" sz="1700" dirty="0"/>
          </a:p>
        </p:txBody>
      </p:sp>
      <p:sp>
        <p:nvSpPr>
          <p:cNvPr id="12" name="Shape 9"/>
          <p:cNvSpPr/>
          <p:nvPr/>
        </p:nvSpPr>
        <p:spPr>
          <a:xfrm>
            <a:off x="7955280" y="1783080"/>
            <a:ext cx="3794760" cy="1325880"/>
          </a:xfrm>
          <a:prstGeom prst="roundRect">
            <a:avLst>
              <a:gd name="adj" fmla="val 8276"/>
            </a:avLst>
          </a:prstGeom>
          <a:solidFill>
            <a:srgbClr val="F1F5F9"/>
          </a:solidFill>
          <a:ln w="12700">
            <a:solidFill>
              <a:srgbClr val="F1F5F9"/>
            </a:solidFill>
            <a:prstDash val="solid"/>
          </a:ln>
        </p:spPr>
      </p:sp>
      <p:sp>
        <p:nvSpPr>
          <p:cNvPr id="13" name="Shape 10"/>
          <p:cNvSpPr/>
          <p:nvPr/>
        </p:nvSpPr>
        <p:spPr>
          <a:xfrm>
            <a:off x="8183880" y="2057400"/>
            <a:ext cx="731520" cy="731520"/>
          </a:xfrm>
          <a:prstGeom prst="ellipse">
            <a:avLst/>
          </a:prstGeom>
          <a:solidFill>
            <a:srgbClr val="0E9F8E"/>
          </a:solidFill>
          <a:ln w="12700">
            <a:solidFill>
              <a:srgbClr val="0E9F8E"/>
            </a:solidFill>
            <a:prstDash val="solid"/>
          </a:ln>
        </p:spPr>
      </p:sp>
      <p:pic>
        <p:nvPicPr>
          <p:cNvPr id="14" name="Image 1" descr="preencoded.png">    </p:cNvPr>
          <p:cNvPicPr>
            <a:picLocks noChangeAspect="1"/>
          </p:cNvPicPr>
          <p:nvPr/>
        </p:nvPicPr>
        <p:blipFill>
          <a:blip r:embed="rId2"/>
          <a:stretch>
            <a:fillRect/>
          </a:stretch>
        </p:blipFill>
        <p:spPr>
          <a:xfrm>
            <a:off x="8366760" y="2240280"/>
            <a:ext cx="365760" cy="365760"/>
          </a:xfrm>
          <a:prstGeom prst="rect">
            <a:avLst/>
          </a:prstGeom>
        </p:spPr>
      </p:pic>
      <p:sp>
        <p:nvSpPr>
          <p:cNvPr id="15" name="Text 11"/>
          <p:cNvSpPr txBox="1"/>
          <p:nvPr/>
        </p:nvSpPr>
        <p:spPr>
          <a:xfrm>
            <a:off x="9098280" y="1965960"/>
            <a:ext cx="2514600" cy="960120"/>
          </a:xfrm>
          <a:prstGeom prst="rect">
            <a:avLst/>
          </a:prstGeom>
          <a:noFill/>
          <a:ln/>
        </p:spPr>
        <p:txBody>
          <a:bodyPr wrap="square" lIns="0" tIns="0" rIns="0" bIns="0" rtlCol="0" anchor="ctr"/>
          <a:lstStyle/>
          <a:p>
            <a:pPr indent="0" marL="0">
              <a:buNone/>
            </a:pPr>
            <a:r>
              <a:rPr lang="en-US" sz="1700" b="1" dirty="0">
                <a:solidFill>
                  <a:srgbClr val="0F1B2D"/>
                </a:solidFill>
                <a:latin typeface="Calibri" pitchFamily="34" charset="0"/>
                <a:ea typeface="Calibri" pitchFamily="34" charset="-122"/>
                <a:cs typeface="Calibri" pitchFamily="34" charset="-120"/>
              </a:rPr>
              <a:t>Terraform</a:t>
            </a:r>
            <a:endParaRPr lang="en-US" sz="1700" dirty="0"/>
          </a:p>
          <a:p>
            <a:pPr indent="0" marL="0">
              <a:buNone/>
            </a:pPr>
            <a:r>
              <a:rPr lang="en-US" sz="1300" dirty="0">
                <a:solidFill>
                  <a:srgbClr val="64748B"/>
                </a:solidFill>
                <a:latin typeface="Calibri" pitchFamily="34" charset="0"/>
                <a:ea typeface="Calibri" pitchFamily="34" charset="-122"/>
                <a:cs typeface="Calibri" pitchFamily="34" charset="-120"/>
              </a:rPr>
              <a:t>fmt, validate, offline tests (mocked AWS)</a:t>
            </a:r>
            <a:endParaRPr lang="en-US" sz="1700" dirty="0"/>
          </a:p>
        </p:txBody>
      </p:sp>
      <p:sp>
        <p:nvSpPr>
          <p:cNvPr id="16" name="Shape 12"/>
          <p:cNvSpPr/>
          <p:nvPr/>
        </p:nvSpPr>
        <p:spPr>
          <a:xfrm>
            <a:off x="3931920" y="3337560"/>
            <a:ext cx="3794760" cy="1325880"/>
          </a:xfrm>
          <a:prstGeom prst="roundRect">
            <a:avLst>
              <a:gd name="adj" fmla="val 8276"/>
            </a:avLst>
          </a:prstGeom>
          <a:solidFill>
            <a:srgbClr val="F1F5F9"/>
          </a:solidFill>
          <a:ln w="12700">
            <a:solidFill>
              <a:srgbClr val="F1F5F9"/>
            </a:solidFill>
            <a:prstDash val="solid"/>
          </a:ln>
        </p:spPr>
      </p:sp>
      <p:sp>
        <p:nvSpPr>
          <p:cNvPr id="17" name="Shape 13"/>
          <p:cNvSpPr/>
          <p:nvPr/>
        </p:nvSpPr>
        <p:spPr>
          <a:xfrm>
            <a:off x="4160520" y="3611880"/>
            <a:ext cx="731520" cy="731520"/>
          </a:xfrm>
          <a:prstGeom prst="ellipse">
            <a:avLst/>
          </a:prstGeom>
          <a:solidFill>
            <a:srgbClr val="F59E0B"/>
          </a:solidFill>
          <a:ln w="12700">
            <a:solidFill>
              <a:srgbClr val="F59E0B"/>
            </a:solidFill>
            <a:prstDash val="solid"/>
          </a:ln>
        </p:spPr>
      </p:sp>
      <p:pic>
        <p:nvPicPr>
          <p:cNvPr id="18" name="Image 2" descr="preencoded.png">    </p:cNvPr>
          <p:cNvPicPr>
            <a:picLocks noChangeAspect="1"/>
          </p:cNvPicPr>
          <p:nvPr/>
        </p:nvPicPr>
        <p:blipFill>
          <a:blip r:embed="rId3"/>
          <a:stretch>
            <a:fillRect/>
          </a:stretch>
        </p:blipFill>
        <p:spPr>
          <a:xfrm>
            <a:off x="4343400" y="3794760"/>
            <a:ext cx="365760" cy="365760"/>
          </a:xfrm>
          <a:prstGeom prst="rect">
            <a:avLst/>
          </a:prstGeom>
        </p:spPr>
      </p:pic>
      <p:sp>
        <p:nvSpPr>
          <p:cNvPr id="19" name="Text 14"/>
          <p:cNvSpPr txBox="1"/>
          <p:nvPr/>
        </p:nvSpPr>
        <p:spPr>
          <a:xfrm>
            <a:off x="5074920" y="3520440"/>
            <a:ext cx="2514600" cy="960120"/>
          </a:xfrm>
          <a:prstGeom prst="rect">
            <a:avLst/>
          </a:prstGeom>
          <a:noFill/>
          <a:ln/>
        </p:spPr>
        <p:txBody>
          <a:bodyPr wrap="square" lIns="0" tIns="0" rIns="0" bIns="0" rtlCol="0" anchor="ctr"/>
          <a:lstStyle/>
          <a:p>
            <a:pPr indent="0" marL="0">
              <a:buNone/>
            </a:pPr>
            <a:r>
              <a:rPr lang="en-US" sz="1700" b="1" dirty="0">
                <a:solidFill>
                  <a:srgbClr val="0F1B2D"/>
                </a:solidFill>
                <a:latin typeface="Calibri" pitchFamily="34" charset="0"/>
                <a:ea typeface="Calibri" pitchFamily="34" charset="-122"/>
                <a:cs typeface="Calibri" pitchFamily="34" charset="-120"/>
              </a:rPr>
              <a:t>Checkov</a:t>
            </a:r>
            <a:endParaRPr lang="en-US" sz="1700" dirty="0"/>
          </a:p>
          <a:p>
            <a:pPr indent="0" marL="0">
              <a:buNone/>
            </a:pPr>
            <a:r>
              <a:rPr lang="en-US" sz="1300" dirty="0">
                <a:solidFill>
                  <a:srgbClr val="64748B"/>
                </a:solidFill>
                <a:latin typeface="Calibri" pitchFamily="34" charset="0"/>
                <a:ea typeface="Calibri" pitchFamily="34" charset="-122"/>
                <a:cs typeface="Calibri" pitchFamily="34" charset="-120"/>
              </a:rPr>
              <a:t>Infrastructure-as-code scan</a:t>
            </a:r>
            <a:endParaRPr lang="en-US" sz="1700" dirty="0"/>
          </a:p>
        </p:txBody>
      </p:sp>
      <p:sp>
        <p:nvSpPr>
          <p:cNvPr id="20" name="Shape 15"/>
          <p:cNvSpPr/>
          <p:nvPr/>
        </p:nvSpPr>
        <p:spPr>
          <a:xfrm>
            <a:off x="7955280" y="3337560"/>
            <a:ext cx="3794760" cy="1325880"/>
          </a:xfrm>
          <a:prstGeom prst="roundRect">
            <a:avLst>
              <a:gd name="adj" fmla="val 8276"/>
            </a:avLst>
          </a:prstGeom>
          <a:solidFill>
            <a:srgbClr val="F1F5F9"/>
          </a:solidFill>
          <a:ln w="12700">
            <a:solidFill>
              <a:srgbClr val="F1F5F9"/>
            </a:solidFill>
            <a:prstDash val="solid"/>
          </a:ln>
        </p:spPr>
      </p:sp>
      <p:sp>
        <p:nvSpPr>
          <p:cNvPr id="21" name="Shape 16"/>
          <p:cNvSpPr/>
          <p:nvPr/>
        </p:nvSpPr>
        <p:spPr>
          <a:xfrm>
            <a:off x="8183880" y="3611880"/>
            <a:ext cx="731520" cy="731520"/>
          </a:xfrm>
          <a:prstGeom prst="ellipse">
            <a:avLst/>
          </a:prstGeom>
          <a:solidFill>
            <a:srgbClr val="0E9F8E"/>
          </a:solidFill>
          <a:ln w="12700">
            <a:solidFill>
              <a:srgbClr val="0E9F8E"/>
            </a:solidFill>
            <a:prstDash val="solid"/>
          </a:ln>
        </p:spPr>
      </p:sp>
      <p:pic>
        <p:nvPicPr>
          <p:cNvPr id="22" name="Image 3" descr="preencoded.png">    </p:cNvPr>
          <p:cNvPicPr>
            <a:picLocks noChangeAspect="1"/>
          </p:cNvPicPr>
          <p:nvPr/>
        </p:nvPicPr>
        <p:blipFill>
          <a:blip r:embed="rId4"/>
          <a:stretch>
            <a:fillRect/>
          </a:stretch>
        </p:blipFill>
        <p:spPr>
          <a:xfrm>
            <a:off x="8366760" y="3794760"/>
            <a:ext cx="365760" cy="365760"/>
          </a:xfrm>
          <a:prstGeom prst="rect">
            <a:avLst/>
          </a:prstGeom>
        </p:spPr>
      </p:pic>
      <p:sp>
        <p:nvSpPr>
          <p:cNvPr id="23" name="Text 17"/>
          <p:cNvSpPr txBox="1"/>
          <p:nvPr/>
        </p:nvSpPr>
        <p:spPr>
          <a:xfrm>
            <a:off x="9098280" y="3520440"/>
            <a:ext cx="2514600" cy="960120"/>
          </a:xfrm>
          <a:prstGeom prst="rect">
            <a:avLst/>
          </a:prstGeom>
          <a:noFill/>
          <a:ln/>
        </p:spPr>
        <p:txBody>
          <a:bodyPr wrap="square" lIns="0" tIns="0" rIns="0" bIns="0" rtlCol="0" anchor="ctr"/>
          <a:lstStyle/>
          <a:p>
            <a:pPr indent="0" marL="0">
              <a:buNone/>
            </a:pPr>
            <a:r>
              <a:rPr lang="en-US" sz="1700" b="1" dirty="0">
                <a:solidFill>
                  <a:srgbClr val="0F1B2D"/>
                </a:solidFill>
                <a:latin typeface="Calibri" pitchFamily="34" charset="0"/>
                <a:ea typeface="Calibri" pitchFamily="34" charset="-122"/>
                <a:cs typeface="Calibri" pitchFamily="34" charset="-120"/>
              </a:rPr>
              <a:t>Trivy</a:t>
            </a:r>
            <a:endParaRPr lang="en-US" sz="1700" dirty="0"/>
          </a:p>
          <a:p>
            <a:pPr indent="0" marL="0">
              <a:buNone/>
            </a:pPr>
            <a:r>
              <a:rPr lang="en-US" sz="1300" dirty="0">
                <a:solidFill>
                  <a:srgbClr val="64748B"/>
                </a:solidFill>
                <a:latin typeface="Calibri" pitchFamily="34" charset="0"/>
                <a:ea typeface="Calibri" pitchFamily="34" charset="-122"/>
                <a:cs typeface="Calibri" pitchFamily="34" charset="-120"/>
              </a:rPr>
              <a:t>Code, Docker images and every AMI</a:t>
            </a:r>
            <a:endParaRPr lang="en-US" sz="1700" dirty="0"/>
          </a:p>
        </p:txBody>
      </p:sp>
      <p:sp>
        <p:nvSpPr>
          <p:cNvPr id="24" name="Shape 18"/>
          <p:cNvSpPr/>
          <p:nvPr/>
        </p:nvSpPr>
        <p:spPr>
          <a:xfrm>
            <a:off x="3931920" y="4892040"/>
            <a:ext cx="3794760" cy="1325880"/>
          </a:xfrm>
          <a:prstGeom prst="roundRect">
            <a:avLst>
              <a:gd name="adj" fmla="val 8276"/>
            </a:avLst>
          </a:prstGeom>
          <a:solidFill>
            <a:srgbClr val="F1F5F9"/>
          </a:solidFill>
          <a:ln w="12700">
            <a:solidFill>
              <a:srgbClr val="F1F5F9"/>
            </a:solidFill>
            <a:prstDash val="solid"/>
          </a:ln>
        </p:spPr>
      </p:sp>
      <p:sp>
        <p:nvSpPr>
          <p:cNvPr id="25" name="Shape 19"/>
          <p:cNvSpPr/>
          <p:nvPr/>
        </p:nvSpPr>
        <p:spPr>
          <a:xfrm>
            <a:off x="4160520" y="5166360"/>
            <a:ext cx="731520" cy="731520"/>
          </a:xfrm>
          <a:prstGeom prst="ellipse">
            <a:avLst/>
          </a:prstGeom>
          <a:solidFill>
            <a:srgbClr val="F59E0B"/>
          </a:solidFill>
          <a:ln w="12700">
            <a:solidFill>
              <a:srgbClr val="F59E0B"/>
            </a:solidFill>
            <a:prstDash val="solid"/>
          </a:ln>
        </p:spPr>
      </p:sp>
      <p:pic>
        <p:nvPicPr>
          <p:cNvPr id="26" name="Image 4" descr="preencoded.png">    </p:cNvPr>
          <p:cNvPicPr>
            <a:picLocks noChangeAspect="1"/>
          </p:cNvPicPr>
          <p:nvPr/>
        </p:nvPicPr>
        <p:blipFill>
          <a:blip r:embed="rId5"/>
          <a:stretch>
            <a:fillRect/>
          </a:stretch>
        </p:blipFill>
        <p:spPr>
          <a:xfrm>
            <a:off x="4343400" y="5349240"/>
            <a:ext cx="365760" cy="365760"/>
          </a:xfrm>
          <a:prstGeom prst="rect">
            <a:avLst/>
          </a:prstGeom>
        </p:spPr>
      </p:pic>
      <p:sp>
        <p:nvSpPr>
          <p:cNvPr id="27" name="Text 20"/>
          <p:cNvSpPr txBox="1"/>
          <p:nvPr/>
        </p:nvSpPr>
        <p:spPr>
          <a:xfrm>
            <a:off x="5074920" y="5074920"/>
            <a:ext cx="2514600" cy="960120"/>
          </a:xfrm>
          <a:prstGeom prst="rect">
            <a:avLst/>
          </a:prstGeom>
          <a:noFill/>
          <a:ln/>
        </p:spPr>
        <p:txBody>
          <a:bodyPr wrap="square" lIns="0" tIns="0" rIns="0" bIns="0" rtlCol="0" anchor="ctr"/>
          <a:lstStyle/>
          <a:p>
            <a:pPr indent="0" marL="0">
              <a:buNone/>
            </a:pPr>
            <a:r>
              <a:rPr lang="en-US" sz="1700" b="1" dirty="0">
                <a:solidFill>
                  <a:srgbClr val="0F1B2D"/>
                </a:solidFill>
                <a:latin typeface="Calibri" pitchFamily="34" charset="0"/>
                <a:ea typeface="Calibri" pitchFamily="34" charset="-122"/>
                <a:cs typeface="Calibri" pitchFamily="34" charset="-120"/>
              </a:rPr>
              <a:t>CodeQL</a:t>
            </a:r>
            <a:endParaRPr lang="en-US" sz="1700" dirty="0"/>
          </a:p>
          <a:p>
            <a:pPr indent="0" marL="0">
              <a:buNone/>
            </a:pPr>
            <a:r>
              <a:rPr lang="en-US" sz="1300" dirty="0">
                <a:solidFill>
                  <a:srgbClr val="64748B"/>
                </a:solidFill>
                <a:latin typeface="Calibri" pitchFamily="34" charset="0"/>
                <a:ea typeface="Calibri" pitchFamily="34" charset="-122"/>
                <a:cs typeface="Calibri" pitchFamily="34" charset="-120"/>
              </a:rPr>
              <a:t>Python and JavaScript analysis</a:t>
            </a:r>
            <a:endParaRPr lang="en-US" sz="1700" dirty="0"/>
          </a:p>
        </p:txBody>
      </p:sp>
      <p:sp>
        <p:nvSpPr>
          <p:cNvPr id="28" name="Shape 21"/>
          <p:cNvSpPr/>
          <p:nvPr/>
        </p:nvSpPr>
        <p:spPr>
          <a:xfrm>
            <a:off x="7955280" y="4892040"/>
            <a:ext cx="3794760" cy="1325880"/>
          </a:xfrm>
          <a:prstGeom prst="roundRect">
            <a:avLst>
              <a:gd name="adj" fmla="val 8276"/>
            </a:avLst>
          </a:prstGeom>
          <a:solidFill>
            <a:srgbClr val="F1F5F9"/>
          </a:solidFill>
          <a:ln w="12700">
            <a:solidFill>
              <a:srgbClr val="F1F5F9"/>
            </a:solidFill>
            <a:prstDash val="solid"/>
          </a:ln>
        </p:spPr>
      </p:sp>
      <p:sp>
        <p:nvSpPr>
          <p:cNvPr id="29" name="Shape 22"/>
          <p:cNvSpPr/>
          <p:nvPr/>
        </p:nvSpPr>
        <p:spPr>
          <a:xfrm>
            <a:off x="8183880" y="5166360"/>
            <a:ext cx="731520" cy="731520"/>
          </a:xfrm>
          <a:prstGeom prst="ellipse">
            <a:avLst/>
          </a:prstGeom>
          <a:solidFill>
            <a:srgbClr val="0E9F8E"/>
          </a:solidFill>
          <a:ln w="12700">
            <a:solidFill>
              <a:srgbClr val="0E9F8E"/>
            </a:solidFill>
            <a:prstDash val="solid"/>
          </a:ln>
        </p:spPr>
      </p:sp>
      <p:pic>
        <p:nvPicPr>
          <p:cNvPr id="30" name="Image 5" descr="preencoded.png">    </p:cNvPr>
          <p:cNvPicPr>
            <a:picLocks noChangeAspect="1"/>
          </p:cNvPicPr>
          <p:nvPr/>
        </p:nvPicPr>
        <p:blipFill>
          <a:blip r:embed="rId6"/>
          <a:stretch>
            <a:fillRect/>
          </a:stretch>
        </p:blipFill>
        <p:spPr>
          <a:xfrm>
            <a:off x="8366760" y="5349240"/>
            <a:ext cx="365760" cy="365760"/>
          </a:xfrm>
          <a:prstGeom prst="rect">
            <a:avLst/>
          </a:prstGeom>
        </p:spPr>
      </p:pic>
      <p:sp>
        <p:nvSpPr>
          <p:cNvPr id="31" name="Text 23"/>
          <p:cNvSpPr txBox="1"/>
          <p:nvPr/>
        </p:nvSpPr>
        <p:spPr>
          <a:xfrm>
            <a:off x="9098280" y="5074920"/>
            <a:ext cx="2514600" cy="960120"/>
          </a:xfrm>
          <a:prstGeom prst="rect">
            <a:avLst/>
          </a:prstGeom>
          <a:noFill/>
          <a:ln/>
        </p:spPr>
        <p:txBody>
          <a:bodyPr wrap="square" lIns="0" tIns="0" rIns="0" bIns="0" rtlCol="0" anchor="ctr"/>
          <a:lstStyle/>
          <a:p>
            <a:pPr indent="0" marL="0">
              <a:buNone/>
            </a:pPr>
            <a:r>
              <a:rPr lang="en-US" sz="1700" b="1" dirty="0">
                <a:solidFill>
                  <a:srgbClr val="0F1B2D"/>
                </a:solidFill>
                <a:latin typeface="Calibri" pitchFamily="34" charset="0"/>
                <a:ea typeface="Calibri" pitchFamily="34" charset="-122"/>
                <a:cs typeface="Calibri" pitchFamily="34" charset="-120"/>
              </a:rPr>
              <a:t>pip-audit + npm audit</a:t>
            </a:r>
            <a:endParaRPr lang="en-US" sz="1700" dirty="0"/>
          </a:p>
          <a:p>
            <a:pPr indent="0" marL="0">
              <a:buNone/>
            </a:pPr>
            <a:r>
              <a:rPr lang="en-US" sz="1300" dirty="0">
                <a:solidFill>
                  <a:srgbClr val="64748B"/>
                </a:solidFill>
                <a:latin typeface="Calibri" pitchFamily="34" charset="0"/>
                <a:ea typeface="Calibri" pitchFamily="34" charset="-122"/>
                <a:cs typeface="Calibri" pitchFamily="34" charset="-120"/>
              </a:rPr>
              <a:t>Dependency vulnerabilities</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3400" b="1" dirty="0">
                <a:solidFill>
                  <a:srgbClr val="0F1B2D"/>
                </a:solidFill>
                <a:latin typeface="Arial" pitchFamily="34" charset="0"/>
                <a:ea typeface="Arial" pitchFamily="34" charset="-122"/>
                <a:cs typeface="Arial" pitchFamily="34" charset="-120"/>
              </a:rPr>
              <a:t>Operations built in</a:t>
            </a:r>
            <a:endParaRPr lang="en-US" sz="3400" dirty="0"/>
          </a:p>
        </p:txBody>
      </p:sp>
      <p:sp>
        <p:nvSpPr>
          <p:cNvPr id="3" name="Text 1"/>
          <p:cNvSpPr txBox="1"/>
          <p:nvPr/>
        </p:nvSpPr>
        <p:spPr>
          <a:xfrm>
            <a:off x="548640" y="1051560"/>
            <a:ext cx="11064240" cy="411480"/>
          </a:xfrm>
          <a:prstGeom prst="rect">
            <a:avLst/>
          </a:prstGeom>
          <a:noFill/>
          <a:ln/>
        </p:spPr>
        <p:txBody>
          <a:bodyPr wrap="square" lIns="0" tIns="0" rIns="0" bIns="0" rtlCol="0" anchor="ctr"/>
          <a:lstStyle/>
          <a:p>
            <a:pPr indent="0" marL="0">
              <a:buNone/>
            </a:pPr>
            <a:r>
              <a:rPr lang="en-US" sz="1600" dirty="0">
                <a:solidFill>
                  <a:srgbClr val="64748B"/>
                </a:solidFill>
                <a:latin typeface="Calibri" pitchFamily="34" charset="0"/>
                <a:ea typeface="Calibri" pitchFamily="34" charset="-122"/>
                <a:cs typeface="Calibri" pitchFamily="34" charset="-120"/>
              </a:rPr>
              <a:t>Day-2 tooling that normally comes much later in a project</a:t>
            </a:r>
            <a:endParaRPr lang="en-US" sz="1600" dirty="0"/>
          </a:p>
        </p:txBody>
      </p:sp>
      <p:sp>
        <p:nvSpPr>
          <p:cNvPr id="4" name="Shape 2"/>
          <p:cNvSpPr/>
          <p:nvPr/>
        </p:nvSpPr>
        <p:spPr>
          <a:xfrm>
            <a:off x="548640" y="1874520"/>
            <a:ext cx="731520" cy="731520"/>
          </a:xfrm>
          <a:prstGeom prst="ellipse">
            <a:avLst/>
          </a:prstGeom>
          <a:solidFill>
            <a:srgbClr val="F59E0B"/>
          </a:solidFill>
          <a:ln w="12700">
            <a:solidFill>
              <a:srgbClr val="F59E0B"/>
            </a:solidFill>
            <a:prstDash val="solid"/>
          </a:ln>
        </p:spPr>
      </p:sp>
      <p:pic>
        <p:nvPicPr>
          <p:cNvPr id="5" name="Image 0" descr="preencoded.png">    </p:cNvPr>
          <p:cNvPicPr>
            <a:picLocks noChangeAspect="1"/>
          </p:cNvPicPr>
          <p:nvPr/>
        </p:nvPicPr>
        <p:blipFill>
          <a:blip r:embed="rId1"/>
          <a:stretch>
            <a:fillRect/>
          </a:stretch>
        </p:blipFill>
        <p:spPr>
          <a:xfrm>
            <a:off x="731520" y="2057400"/>
            <a:ext cx="365760" cy="365760"/>
          </a:xfrm>
          <a:prstGeom prst="rect">
            <a:avLst/>
          </a:prstGeom>
        </p:spPr>
      </p:pic>
      <p:sp>
        <p:nvSpPr>
          <p:cNvPr id="6" name="Text 3"/>
          <p:cNvSpPr txBox="1"/>
          <p:nvPr/>
        </p:nvSpPr>
        <p:spPr>
          <a:xfrm>
            <a:off x="1463040" y="1783080"/>
            <a:ext cx="5669280" cy="914400"/>
          </a:xfrm>
          <a:prstGeom prst="rect">
            <a:avLst/>
          </a:prstGeom>
          <a:noFill/>
          <a:ln/>
        </p:spPr>
        <p:txBody>
          <a:bodyPr wrap="square" lIns="0" tIns="0" rIns="0" bIns="0" rtlCol="0" anchor="ctr"/>
          <a:lstStyle/>
          <a:p>
            <a:pPr indent="0" marL="0">
              <a:buNone/>
            </a:pPr>
            <a:r>
              <a:rPr lang="en-US" sz="1800" b="1" dirty="0">
                <a:solidFill>
                  <a:srgbClr val="0F1B2D"/>
                </a:solidFill>
                <a:latin typeface="Calibri" pitchFamily="34" charset="0"/>
                <a:ea typeface="Calibri" pitchFamily="34" charset="-122"/>
                <a:cs typeface="Calibri" pitchFamily="34" charset="-120"/>
              </a:rPr>
              <a:t>Dashboards and alarms</a:t>
            </a:r>
            <a:endParaRPr lang="en-US" sz="1800" dirty="0"/>
          </a:p>
          <a:p>
            <a:pPr indent="0" marL="0">
              <a:buNone/>
            </a:pPr>
            <a:r>
              <a:rPr lang="en-US" sz="1400" dirty="0">
                <a:solidFill>
                  <a:srgbClr val="1E293B"/>
                </a:solidFill>
                <a:latin typeface="Calibri" pitchFamily="34" charset="0"/>
                <a:ea typeface="Calibri" pitchFamily="34" charset="-122"/>
                <a:cs typeface="Calibri" pitchFamily="34" charset="-120"/>
              </a:rPr>
              <a:t>CloudWatch per environment; alarms forwarded to Slack by a small Lambda function.</a:t>
            </a:r>
            <a:endParaRPr lang="en-US" sz="1800" dirty="0"/>
          </a:p>
        </p:txBody>
      </p:sp>
      <p:sp>
        <p:nvSpPr>
          <p:cNvPr id="7" name="Shape 4"/>
          <p:cNvSpPr/>
          <p:nvPr/>
        </p:nvSpPr>
        <p:spPr>
          <a:xfrm>
            <a:off x="548640" y="2990088"/>
            <a:ext cx="731520" cy="731520"/>
          </a:xfrm>
          <a:prstGeom prst="ellipse">
            <a:avLst/>
          </a:prstGeom>
          <a:solidFill>
            <a:srgbClr val="0E9F8E"/>
          </a:solidFill>
          <a:ln w="12700">
            <a:solidFill>
              <a:srgbClr val="0E9F8E"/>
            </a:solidFill>
            <a:prstDash val="solid"/>
          </a:ln>
        </p:spPr>
      </p:sp>
      <p:pic>
        <p:nvPicPr>
          <p:cNvPr id="8" name="Image 1" descr="preencoded.png">    </p:cNvPr>
          <p:cNvPicPr>
            <a:picLocks noChangeAspect="1"/>
          </p:cNvPicPr>
          <p:nvPr/>
        </p:nvPicPr>
        <p:blipFill>
          <a:blip r:embed="rId2"/>
          <a:stretch>
            <a:fillRect/>
          </a:stretch>
        </p:blipFill>
        <p:spPr>
          <a:xfrm>
            <a:off x="731520" y="3172968"/>
            <a:ext cx="365760" cy="365760"/>
          </a:xfrm>
          <a:prstGeom prst="rect">
            <a:avLst/>
          </a:prstGeom>
        </p:spPr>
      </p:pic>
      <p:sp>
        <p:nvSpPr>
          <p:cNvPr id="9" name="Text 5"/>
          <p:cNvSpPr txBox="1"/>
          <p:nvPr/>
        </p:nvSpPr>
        <p:spPr>
          <a:xfrm>
            <a:off x="1463040" y="2898648"/>
            <a:ext cx="5669280" cy="914400"/>
          </a:xfrm>
          <a:prstGeom prst="rect">
            <a:avLst/>
          </a:prstGeom>
          <a:noFill/>
          <a:ln/>
        </p:spPr>
        <p:txBody>
          <a:bodyPr wrap="square" lIns="0" tIns="0" rIns="0" bIns="0" rtlCol="0" anchor="ctr"/>
          <a:lstStyle/>
          <a:p>
            <a:pPr indent="0" marL="0">
              <a:buNone/>
            </a:pPr>
            <a:r>
              <a:rPr lang="en-US" sz="1800" b="1" dirty="0">
                <a:solidFill>
                  <a:srgbClr val="0F1B2D"/>
                </a:solidFill>
                <a:latin typeface="Calibri" pitchFamily="34" charset="0"/>
                <a:ea typeface="Calibri" pitchFamily="34" charset="-122"/>
                <a:cs typeface="Calibri" pitchFamily="34" charset="-120"/>
              </a:rPr>
              <a:t>Nightly drift check</a:t>
            </a:r>
            <a:endParaRPr lang="en-US" sz="1800" dirty="0"/>
          </a:p>
          <a:p>
            <a:pPr indent="0" marL="0">
              <a:buNone/>
            </a:pPr>
            <a:r>
              <a:rPr lang="en-US" sz="1400" dirty="0">
                <a:solidFill>
                  <a:srgbClr val="1E293B"/>
                </a:solidFill>
                <a:latin typeface="Calibri" pitchFamily="34" charset="0"/>
                <a:ea typeface="Calibri" pitchFamily="34" charset="-122"/>
                <a:cs typeface="Calibri" pitchFamily="34" charset="-120"/>
              </a:rPr>
              <a:t>Read-only plan of every environment each morning; alerts Slack if someone changed AWS by hand.</a:t>
            </a:r>
            <a:endParaRPr lang="en-US" sz="1800" dirty="0"/>
          </a:p>
        </p:txBody>
      </p:sp>
      <p:sp>
        <p:nvSpPr>
          <p:cNvPr id="10" name="Shape 6"/>
          <p:cNvSpPr/>
          <p:nvPr/>
        </p:nvSpPr>
        <p:spPr>
          <a:xfrm>
            <a:off x="548640" y="4105656"/>
            <a:ext cx="731520" cy="731520"/>
          </a:xfrm>
          <a:prstGeom prst="ellipse">
            <a:avLst/>
          </a:prstGeom>
          <a:solidFill>
            <a:srgbClr val="6366F1"/>
          </a:solidFill>
          <a:ln w="12700">
            <a:solidFill>
              <a:srgbClr val="6366F1"/>
            </a:solidFill>
            <a:prstDash val="solid"/>
          </a:ln>
        </p:spPr>
      </p:sp>
      <p:pic>
        <p:nvPicPr>
          <p:cNvPr id="11" name="Image 2" descr="preencoded.png">    </p:cNvPr>
          <p:cNvPicPr>
            <a:picLocks noChangeAspect="1"/>
          </p:cNvPicPr>
          <p:nvPr/>
        </p:nvPicPr>
        <p:blipFill>
          <a:blip r:embed="rId3"/>
          <a:stretch>
            <a:fillRect/>
          </a:stretch>
        </p:blipFill>
        <p:spPr>
          <a:xfrm>
            <a:off x="731520" y="4288536"/>
            <a:ext cx="365760" cy="365760"/>
          </a:xfrm>
          <a:prstGeom prst="rect">
            <a:avLst/>
          </a:prstGeom>
        </p:spPr>
      </p:pic>
      <p:sp>
        <p:nvSpPr>
          <p:cNvPr id="12" name="Text 7"/>
          <p:cNvSpPr txBox="1"/>
          <p:nvPr/>
        </p:nvSpPr>
        <p:spPr>
          <a:xfrm>
            <a:off x="1463040" y="4014216"/>
            <a:ext cx="5669280" cy="914400"/>
          </a:xfrm>
          <a:prstGeom prst="rect">
            <a:avLst/>
          </a:prstGeom>
          <a:noFill/>
          <a:ln/>
        </p:spPr>
        <p:txBody>
          <a:bodyPr wrap="square" lIns="0" tIns="0" rIns="0" bIns="0" rtlCol="0" anchor="ctr"/>
          <a:lstStyle/>
          <a:p>
            <a:pPr indent="0" marL="0">
              <a:buNone/>
            </a:pPr>
            <a:r>
              <a:rPr lang="en-US" sz="1800" b="1" dirty="0">
                <a:solidFill>
                  <a:srgbClr val="0F1B2D"/>
                </a:solidFill>
                <a:latin typeface="Calibri" pitchFamily="34" charset="0"/>
                <a:ea typeface="Calibri" pitchFamily="34" charset="-122"/>
                <a:cs typeface="Calibri" pitchFamily="34" charset="-120"/>
              </a:rPr>
              <a:t>One-click rollback</a:t>
            </a:r>
            <a:endParaRPr lang="en-US" sz="1800" dirty="0"/>
          </a:p>
          <a:p>
            <a:pPr indent="0" marL="0">
              <a:buNone/>
            </a:pPr>
            <a:r>
              <a:rPr lang="en-US" sz="1400" dirty="0">
                <a:solidFill>
                  <a:srgbClr val="1E293B"/>
                </a:solidFill>
                <a:latin typeface="Calibri" pitchFamily="34" charset="0"/>
                <a:ea typeface="Calibri" pitchFamily="34" charset="-122"/>
                <a:cs typeface="Calibri" pitchFamily="34" charset="-120"/>
              </a:rPr>
              <a:t>Redeploy any previous release by its commit SHA; nothing is rebuilt.</a:t>
            </a:r>
            <a:endParaRPr lang="en-US" sz="1800" dirty="0"/>
          </a:p>
        </p:txBody>
      </p:sp>
      <p:sp>
        <p:nvSpPr>
          <p:cNvPr id="13" name="Shape 8"/>
          <p:cNvSpPr/>
          <p:nvPr/>
        </p:nvSpPr>
        <p:spPr>
          <a:xfrm>
            <a:off x="548640" y="5221224"/>
            <a:ext cx="731520" cy="731520"/>
          </a:xfrm>
          <a:prstGeom prst="ellipse">
            <a:avLst/>
          </a:prstGeom>
          <a:solidFill>
            <a:srgbClr val="0F1B2D"/>
          </a:solidFill>
          <a:ln w="12700">
            <a:solidFill>
              <a:srgbClr val="0F1B2D"/>
            </a:solidFill>
            <a:prstDash val="solid"/>
          </a:ln>
        </p:spPr>
      </p:sp>
      <p:pic>
        <p:nvPicPr>
          <p:cNvPr id="14" name="Image 3" descr="preencoded.png">    </p:cNvPr>
          <p:cNvPicPr>
            <a:picLocks noChangeAspect="1"/>
          </p:cNvPicPr>
          <p:nvPr/>
        </p:nvPicPr>
        <p:blipFill>
          <a:blip r:embed="rId4"/>
          <a:stretch>
            <a:fillRect/>
          </a:stretch>
        </p:blipFill>
        <p:spPr>
          <a:xfrm>
            <a:off x="731520" y="5404104"/>
            <a:ext cx="365760" cy="365760"/>
          </a:xfrm>
          <a:prstGeom prst="rect">
            <a:avLst/>
          </a:prstGeom>
        </p:spPr>
      </p:pic>
      <p:sp>
        <p:nvSpPr>
          <p:cNvPr id="15" name="Text 9"/>
          <p:cNvSpPr txBox="1"/>
          <p:nvPr/>
        </p:nvSpPr>
        <p:spPr>
          <a:xfrm>
            <a:off x="1463040" y="5129784"/>
            <a:ext cx="5669280" cy="914400"/>
          </a:xfrm>
          <a:prstGeom prst="rect">
            <a:avLst/>
          </a:prstGeom>
          <a:noFill/>
          <a:ln/>
        </p:spPr>
        <p:txBody>
          <a:bodyPr wrap="square" lIns="0" tIns="0" rIns="0" bIns="0" rtlCol="0" anchor="ctr"/>
          <a:lstStyle/>
          <a:p>
            <a:pPr indent="0" marL="0">
              <a:buNone/>
            </a:pPr>
            <a:r>
              <a:rPr lang="en-US" sz="1800" b="1" dirty="0">
                <a:solidFill>
                  <a:srgbClr val="0F1B2D"/>
                </a:solidFill>
                <a:latin typeface="Calibri" pitchFamily="34" charset="0"/>
                <a:ea typeface="Calibri" pitchFamily="34" charset="-122"/>
                <a:cs typeface="Calibri" pitchFamily="34" charset="-120"/>
              </a:rPr>
              <a:t>Safe Destroy workflow</a:t>
            </a:r>
            <a:endParaRPr lang="en-US" sz="1800" dirty="0"/>
          </a:p>
          <a:p>
            <a:pPr indent="0" marL="0">
              <a:buNone/>
            </a:pPr>
            <a:r>
              <a:rPr lang="en-US" sz="1400" dirty="0">
                <a:solidFill>
                  <a:srgbClr val="1E293B"/>
                </a:solidFill>
                <a:latin typeface="Calibri" pitchFamily="34" charset="0"/>
                <a:ea typeface="Calibri" pitchFamily="34" charset="-122"/>
                <a:cs typeface="Calibri" pitchFamily="34" charset="-120"/>
              </a:rPr>
              <a:t>Typed confirmation, prod approval, final database snapshot in prod — to control costs.</a:t>
            </a:r>
            <a:endParaRPr lang="en-US" sz="1800" dirty="0"/>
          </a:p>
        </p:txBody>
      </p:sp>
      <p:sp>
        <p:nvSpPr>
          <p:cNvPr id="16" name="Shape 10"/>
          <p:cNvSpPr/>
          <p:nvPr/>
        </p:nvSpPr>
        <p:spPr>
          <a:xfrm>
            <a:off x="7498080" y="1783080"/>
            <a:ext cx="4114800" cy="4434840"/>
          </a:xfrm>
          <a:prstGeom prst="roundRect">
            <a:avLst>
              <a:gd name="adj" fmla="val 2667"/>
            </a:avLst>
          </a:prstGeom>
          <a:solidFill>
            <a:srgbClr val="0F1B2D"/>
          </a:solidFill>
          <a:ln w="12700">
            <a:solidFill>
              <a:srgbClr val="0F1B2D"/>
            </a:solidFill>
            <a:prstDash val="solid"/>
          </a:ln>
        </p:spPr>
      </p:sp>
      <p:sp>
        <p:nvSpPr>
          <p:cNvPr id="17" name="Text 11"/>
          <p:cNvSpPr txBox="1"/>
          <p:nvPr/>
        </p:nvSpPr>
        <p:spPr>
          <a:xfrm>
            <a:off x="7726680" y="1920240"/>
            <a:ext cx="3657600" cy="411480"/>
          </a:xfrm>
          <a:prstGeom prst="rect">
            <a:avLst/>
          </a:prstGeom>
          <a:noFill/>
          <a:ln/>
        </p:spPr>
        <p:txBody>
          <a:bodyPr wrap="square" lIns="0" tIns="0" rIns="0" bIns="0" rtlCol="0" anchor="ctr"/>
          <a:lstStyle/>
          <a:p>
            <a:pPr indent="0" marL="0">
              <a:buNone/>
            </a:pPr>
            <a:r>
              <a:rPr lang="en-US" sz="1400" b="1" dirty="0">
                <a:solidFill>
                  <a:srgbClr val="94A3B8"/>
                </a:solidFill>
                <a:latin typeface="Calibri" pitchFamily="34" charset="0"/>
                <a:ea typeface="Calibri" pitchFamily="34" charset="-122"/>
                <a:cs typeface="Calibri" pitchFamily="34" charset="-120"/>
              </a:rPr>
              <a:t>Example Slack notifications</a:t>
            </a:r>
            <a:endParaRPr lang="en-US" sz="1400" dirty="0"/>
          </a:p>
        </p:txBody>
      </p:sp>
      <p:sp>
        <p:nvSpPr>
          <p:cNvPr id="18" name="Shape 12"/>
          <p:cNvSpPr/>
          <p:nvPr/>
        </p:nvSpPr>
        <p:spPr>
          <a:xfrm>
            <a:off x="7726680" y="2423160"/>
            <a:ext cx="3657600" cy="804672"/>
          </a:xfrm>
          <a:prstGeom prst="roundRect">
            <a:avLst>
              <a:gd name="adj" fmla="val 9091"/>
            </a:avLst>
          </a:prstGeom>
          <a:solidFill>
            <a:srgbClr val="1B2A41"/>
          </a:solidFill>
          <a:ln w="12700">
            <a:solidFill>
              <a:srgbClr val="1B2A41"/>
            </a:solidFill>
            <a:prstDash val="solid"/>
          </a:ln>
        </p:spPr>
      </p:sp>
      <p:pic>
        <p:nvPicPr>
          <p:cNvPr id="19" name="Image 4" descr="preencoded.png">    </p:cNvPr>
          <p:cNvPicPr>
            <a:picLocks noChangeAspect="1"/>
          </p:cNvPicPr>
          <p:nvPr/>
        </p:nvPicPr>
        <p:blipFill>
          <a:blip r:embed="rId5"/>
          <a:stretch>
            <a:fillRect/>
          </a:stretch>
        </p:blipFill>
        <p:spPr>
          <a:xfrm>
            <a:off x="7882128" y="2642616"/>
            <a:ext cx="365760" cy="365760"/>
          </a:xfrm>
          <a:prstGeom prst="rect">
            <a:avLst/>
          </a:prstGeom>
        </p:spPr>
      </p:pic>
      <p:sp>
        <p:nvSpPr>
          <p:cNvPr id="20" name="Text 13"/>
          <p:cNvSpPr txBox="1"/>
          <p:nvPr/>
        </p:nvSpPr>
        <p:spPr>
          <a:xfrm>
            <a:off x="8412480" y="2478024"/>
            <a:ext cx="2880360" cy="694944"/>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Deploy EC2 dev succeeded</a:t>
            </a:r>
            <a:endParaRPr lang="en-US" sz="1300" dirty="0"/>
          </a:p>
          <a:p>
            <a:pPr indent="0" marL="0">
              <a:buNone/>
            </a:pPr>
            <a:r>
              <a:rPr lang="en-US" sz="1100" dirty="0">
                <a:solidFill>
                  <a:srgbClr val="CBD5E1"/>
                </a:solidFill>
                <a:latin typeface="Calibri" pitchFamily="34" charset="0"/>
                <a:ea typeface="Calibri" pitchFamily="34" charset="-122"/>
                <a:cs typeface="Calibri" pitchFamily="34" charset="-120"/>
              </a:rPr>
              <a:t>Smoke tests passed</a:t>
            </a:r>
            <a:endParaRPr lang="en-US" sz="1300" dirty="0"/>
          </a:p>
        </p:txBody>
      </p:sp>
      <p:sp>
        <p:nvSpPr>
          <p:cNvPr id="21" name="Shape 14"/>
          <p:cNvSpPr/>
          <p:nvPr/>
        </p:nvSpPr>
        <p:spPr>
          <a:xfrm>
            <a:off x="7726680" y="3355848"/>
            <a:ext cx="3657600" cy="804672"/>
          </a:xfrm>
          <a:prstGeom prst="roundRect">
            <a:avLst>
              <a:gd name="adj" fmla="val 9091"/>
            </a:avLst>
          </a:prstGeom>
          <a:solidFill>
            <a:srgbClr val="1B2A41"/>
          </a:solidFill>
          <a:ln w="12700">
            <a:solidFill>
              <a:srgbClr val="1B2A41"/>
            </a:solidFill>
            <a:prstDash val="solid"/>
          </a:ln>
        </p:spPr>
      </p:sp>
      <p:pic>
        <p:nvPicPr>
          <p:cNvPr id="22" name="Image 5" descr="preencoded.png">    </p:cNvPr>
          <p:cNvPicPr>
            <a:picLocks noChangeAspect="1"/>
          </p:cNvPicPr>
          <p:nvPr/>
        </p:nvPicPr>
        <p:blipFill>
          <a:blip r:embed="rId6"/>
          <a:stretch>
            <a:fillRect/>
          </a:stretch>
        </p:blipFill>
        <p:spPr>
          <a:xfrm>
            <a:off x="7882128" y="3575304"/>
            <a:ext cx="365760" cy="365760"/>
          </a:xfrm>
          <a:prstGeom prst="rect">
            <a:avLst/>
          </a:prstGeom>
        </p:spPr>
      </p:pic>
      <p:sp>
        <p:nvSpPr>
          <p:cNvPr id="23" name="Text 15"/>
          <p:cNvSpPr txBox="1"/>
          <p:nvPr/>
        </p:nvSpPr>
        <p:spPr>
          <a:xfrm>
            <a:off x="8412480" y="3410712"/>
            <a:ext cx="2880360" cy="694944"/>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Prod waiting for approval</a:t>
            </a:r>
            <a:endParaRPr lang="en-US" sz="1300" dirty="0"/>
          </a:p>
          <a:p>
            <a:pPr indent="0" marL="0">
              <a:buNone/>
            </a:pPr>
            <a:r>
              <a:rPr lang="en-US" sz="1100" dirty="0">
                <a:solidFill>
                  <a:srgbClr val="CBD5E1"/>
                </a:solidFill>
                <a:latin typeface="Calibri" pitchFamily="34" charset="0"/>
                <a:ea typeface="Calibri" pitchFamily="34" charset="-122"/>
                <a:cs typeface="Calibri" pitchFamily="34" charset="-120"/>
              </a:rPr>
              <a:t>Plan summary attached</a:t>
            </a:r>
            <a:endParaRPr lang="en-US" sz="1300" dirty="0"/>
          </a:p>
        </p:txBody>
      </p:sp>
      <p:sp>
        <p:nvSpPr>
          <p:cNvPr id="24" name="Shape 16"/>
          <p:cNvSpPr/>
          <p:nvPr/>
        </p:nvSpPr>
        <p:spPr>
          <a:xfrm>
            <a:off x="7726680" y="4288536"/>
            <a:ext cx="3657600" cy="804672"/>
          </a:xfrm>
          <a:prstGeom prst="roundRect">
            <a:avLst>
              <a:gd name="adj" fmla="val 9091"/>
            </a:avLst>
          </a:prstGeom>
          <a:solidFill>
            <a:srgbClr val="1B2A41"/>
          </a:solidFill>
          <a:ln w="12700">
            <a:solidFill>
              <a:srgbClr val="1B2A41"/>
            </a:solidFill>
            <a:prstDash val="solid"/>
          </a:ln>
        </p:spPr>
      </p:sp>
      <p:pic>
        <p:nvPicPr>
          <p:cNvPr id="25" name="Image 6" descr="preencoded.png">    </p:cNvPr>
          <p:cNvPicPr>
            <a:picLocks noChangeAspect="1"/>
          </p:cNvPicPr>
          <p:nvPr/>
        </p:nvPicPr>
        <p:blipFill>
          <a:blip r:embed="rId7"/>
          <a:stretch>
            <a:fillRect/>
          </a:stretch>
        </p:blipFill>
        <p:spPr>
          <a:xfrm>
            <a:off x="7882128" y="4507992"/>
            <a:ext cx="365760" cy="365760"/>
          </a:xfrm>
          <a:prstGeom prst="rect">
            <a:avLst/>
          </a:prstGeom>
        </p:spPr>
      </p:pic>
      <p:sp>
        <p:nvSpPr>
          <p:cNvPr id="26" name="Text 17"/>
          <p:cNvSpPr txBox="1"/>
          <p:nvPr/>
        </p:nvSpPr>
        <p:spPr>
          <a:xfrm>
            <a:off x="8412480" y="4343400"/>
            <a:ext cx="2880360" cy="694944"/>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Rolled back to last good release</a:t>
            </a:r>
            <a:endParaRPr lang="en-US" sz="1300" dirty="0"/>
          </a:p>
          <a:p>
            <a:pPr indent="0" marL="0">
              <a:buNone/>
            </a:pPr>
            <a:r>
              <a:rPr lang="en-US" sz="1100" dirty="0">
                <a:solidFill>
                  <a:srgbClr val="CBD5E1"/>
                </a:solidFill>
                <a:latin typeface="Calibri" pitchFamily="34" charset="0"/>
                <a:ea typeface="Calibri" pitchFamily="34" charset="-122"/>
                <a:cs typeface="Calibri" pitchFamily="34" charset="-120"/>
              </a:rPr>
              <a:t>Smoke tests failed on the new one</a:t>
            </a:r>
            <a:endParaRPr lang="en-US" sz="1300" dirty="0"/>
          </a:p>
        </p:txBody>
      </p:sp>
      <p:sp>
        <p:nvSpPr>
          <p:cNvPr id="27" name="Shape 18"/>
          <p:cNvSpPr/>
          <p:nvPr/>
        </p:nvSpPr>
        <p:spPr>
          <a:xfrm>
            <a:off x="7726680" y="5221224"/>
            <a:ext cx="3657600" cy="804672"/>
          </a:xfrm>
          <a:prstGeom prst="roundRect">
            <a:avLst>
              <a:gd name="adj" fmla="val 9091"/>
            </a:avLst>
          </a:prstGeom>
          <a:solidFill>
            <a:srgbClr val="1B2A41"/>
          </a:solidFill>
          <a:ln w="12700">
            <a:solidFill>
              <a:srgbClr val="1B2A41"/>
            </a:solidFill>
            <a:prstDash val="solid"/>
          </a:ln>
        </p:spPr>
      </p:sp>
      <p:pic>
        <p:nvPicPr>
          <p:cNvPr id="28" name="Image 7" descr="preencoded.png">    </p:cNvPr>
          <p:cNvPicPr>
            <a:picLocks noChangeAspect="1"/>
          </p:cNvPicPr>
          <p:nvPr/>
        </p:nvPicPr>
        <p:blipFill>
          <a:blip r:embed="rId8"/>
          <a:stretch>
            <a:fillRect/>
          </a:stretch>
        </p:blipFill>
        <p:spPr>
          <a:xfrm>
            <a:off x="7882128" y="5440680"/>
            <a:ext cx="365760" cy="365760"/>
          </a:xfrm>
          <a:prstGeom prst="rect">
            <a:avLst/>
          </a:prstGeom>
        </p:spPr>
      </p:pic>
      <p:sp>
        <p:nvSpPr>
          <p:cNvPr id="29" name="Text 19"/>
          <p:cNvSpPr txBox="1"/>
          <p:nvPr/>
        </p:nvSpPr>
        <p:spPr>
          <a:xfrm>
            <a:off x="8412480" y="5276088"/>
            <a:ext cx="2880360" cy="694944"/>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Drift check: dev</a:t>
            </a:r>
            <a:endParaRPr lang="en-US" sz="1300" dirty="0"/>
          </a:p>
          <a:p>
            <a:pPr indent="0" marL="0">
              <a:buNone/>
            </a:pPr>
            <a:r>
              <a:rPr lang="en-US" sz="1100" dirty="0">
                <a:solidFill>
                  <a:srgbClr val="CBD5E1"/>
                </a:solidFill>
                <a:latin typeface="Calibri" pitchFamily="34" charset="0"/>
                <a:ea typeface="Calibri" pitchFamily="34" charset="-122"/>
                <a:cs typeface="Calibri" pitchFamily="34" charset="-120"/>
              </a:rPr>
              <a:t>Resource changed outside Terraform</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3400" b="1" dirty="0">
                <a:solidFill>
                  <a:srgbClr val="0F1B2D"/>
                </a:solidFill>
                <a:latin typeface="Arial" pitchFamily="34" charset="0"/>
                <a:ea typeface="Arial" pitchFamily="34" charset="-122"/>
                <a:cs typeface="Arial" pitchFamily="34" charset="-120"/>
              </a:rPr>
              <a:t>Real problems I solved</a:t>
            </a:r>
            <a:endParaRPr lang="en-US" sz="3400" dirty="0"/>
          </a:p>
        </p:txBody>
      </p:sp>
      <p:sp>
        <p:nvSpPr>
          <p:cNvPr id="3" name="Text 1"/>
          <p:cNvSpPr txBox="1"/>
          <p:nvPr/>
        </p:nvSpPr>
        <p:spPr>
          <a:xfrm>
            <a:off x="548640" y="1051560"/>
            <a:ext cx="11064240" cy="411480"/>
          </a:xfrm>
          <a:prstGeom prst="rect">
            <a:avLst/>
          </a:prstGeom>
          <a:noFill/>
          <a:ln/>
        </p:spPr>
        <p:txBody>
          <a:bodyPr wrap="square" lIns="0" tIns="0" rIns="0" bIns="0" rtlCol="0" anchor="ctr"/>
          <a:lstStyle/>
          <a:p>
            <a:pPr indent="0" marL="0">
              <a:buNone/>
            </a:pPr>
            <a:r>
              <a:rPr lang="en-US" sz="1600" dirty="0">
                <a:solidFill>
                  <a:srgbClr val="64748B"/>
                </a:solidFill>
                <a:latin typeface="Calibri" pitchFamily="34" charset="0"/>
                <a:ea typeface="Calibri" pitchFamily="34" charset="-122"/>
                <a:cs typeface="Calibri" pitchFamily="34" charset="-120"/>
              </a:rPr>
              <a:t>Debugging stories from building and running the pipeline</a:t>
            </a:r>
            <a:endParaRPr lang="en-US" sz="16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64240" cy="914400"/>
        </p:xfrm>
        <a:graphic>
          <a:graphicData uri="http://schemas.openxmlformats.org/drawingml/2006/table">
            <a:tbl>
              <a:tblPr/>
              <a:tblGrid>
                <a:gridCol w="3108960"/>
                <a:gridCol w="3566160"/>
                <a:gridCol w="4389120"/>
              </a:tblGrid>
              <a:tr h="56692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Problem</a:t>
                      </a:r>
                      <a:endParaRPr lang="en-US" sz="1400" dirty="0">
                        <a:latin typeface="Calibri" charset="0"/>
                        <a:ea typeface="Calibri" charset="0"/>
                        <a:cs typeface="Calibri" charset="0"/>
                      </a:endParaRPr>
                    </a:p>
                  </a:txBody>
                  <a:tcPr marL="73152" marR="73152" marT="73152" marB="73152"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F1B2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Root cause</a:t>
                      </a:r>
                      <a:endParaRPr lang="en-US" sz="1400" dirty="0">
                        <a:latin typeface="Calibri" charset="0"/>
                        <a:ea typeface="Calibri" charset="0"/>
                        <a:cs typeface="Calibri" charset="0"/>
                      </a:endParaRPr>
                    </a:p>
                  </a:txBody>
                  <a:tcPr marL="73152" marR="73152" marT="73152" marB="73152"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F1B2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Fix</a:t>
                      </a:r>
                      <a:endParaRPr lang="en-US" sz="1400" dirty="0">
                        <a:latin typeface="Calibri" charset="0"/>
                        <a:ea typeface="Calibri" charset="0"/>
                        <a:cs typeface="Calibri" charset="0"/>
                      </a:endParaRPr>
                    </a:p>
                  </a:txBody>
                  <a:tcPr marL="73152" marR="73152" marT="73152" marB="73152"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F1B2D"/>
                    </a:solidFill>
                  </a:tcPr>
                </a:tc>
              </a:tr>
              <a:tr h="566928">
                <a:tc>
                  <a:txBody>
                    <a:bodyPr/>
                    <a:lstStyle/>
                    <a:p>
                      <a:pPr indent="0" marL="0">
                        <a:buNone/>
                      </a:pPr>
                      <a:r>
                        <a:rPr lang="en-US" sz="1300" b="1" dirty="0">
                          <a:solidFill>
                            <a:srgbClr val="0F1B2D"/>
                          </a:solidFill>
                          <a:latin typeface="Calibri" pitchFamily="34" charset="0"/>
                          <a:ea typeface="Calibri" pitchFamily="34" charset="-122"/>
                          <a:cs typeface="Calibri" pitchFamily="34" charset="-120"/>
                        </a:rPr>
                        <a:t>AWS VPC quota reached</a:t>
                      </a:r>
                      <a:endParaRPr lang="en-US" sz="1300" dirty="0">
                        <a:latin typeface="Calibri" charset="0"/>
                        <a:ea typeface="Calibri" charset="0"/>
                        <a:cs typeface="Calibri" charset="0"/>
                      </a:endParaRPr>
                    </a:p>
                  </a:txBody>
                  <a:tcPr marL="73152" marR="73152" marT="73152" marB="73152"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Account limit on VPCs</a:t>
                      </a:r>
                      <a:endParaRPr lang="en-US" sz="1300" dirty="0">
                        <a:latin typeface="Calibri" charset="0"/>
                        <a:ea typeface="Calibri" charset="0"/>
                        <a:cs typeface="Calibri" charset="0"/>
                      </a:endParaRPr>
                    </a:p>
                  </a:txBody>
                  <a:tcPr marL="73152" marR="73152" marT="73152" marB="73152"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Deploy into an existing VPC with dedicated subnet ranges per stack</a:t>
                      </a:r>
                      <a:endParaRPr lang="en-US" sz="1300" dirty="0">
                        <a:latin typeface="Calibri" charset="0"/>
                        <a:ea typeface="Calibri" charset="0"/>
                        <a:cs typeface="Calibri" charset="0"/>
                      </a:endParaRPr>
                    </a:p>
                  </a:txBody>
                  <a:tcPr marL="73152" marR="73152" marT="73152" marB="73152"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r>
              <a:tr h="566928">
                <a:tc>
                  <a:txBody>
                    <a:bodyPr/>
                    <a:lstStyle/>
                    <a:p>
                      <a:pPr indent="0" marL="0">
                        <a:buNone/>
                      </a:pPr>
                      <a:r>
                        <a:rPr lang="en-US" sz="1300" b="1" dirty="0">
                          <a:solidFill>
                            <a:srgbClr val="0F1B2D"/>
                          </a:solidFill>
                          <a:latin typeface="Calibri" pitchFamily="34" charset="0"/>
                          <a:ea typeface="Calibri" pitchFamily="34" charset="-122"/>
                          <a:cs typeface="Calibri" pitchFamily="34" charset="-120"/>
                        </a:rPr>
                        <a:t>API couldn't reach RDS over TLS</a:t>
                      </a:r>
                      <a:endParaRPr lang="en-US" sz="1300" dirty="0">
                        <a:latin typeface="Calibri" charset="0"/>
                        <a:ea typeface="Calibri" charset="0"/>
                        <a:cs typeface="Calibri" charset="0"/>
                      </a:endParaRPr>
                    </a:p>
                  </a:txBody>
                  <a:tcPr marL="73152" marR="73152" marT="73152" marB="73152"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PyMySQL silently ignored the CA setting</a:t>
                      </a:r>
                      <a:endParaRPr lang="en-US" sz="1300" dirty="0">
                        <a:latin typeface="Calibri" charset="0"/>
                        <a:ea typeface="Calibri" charset="0"/>
                        <a:cs typeface="Calibri" charset="0"/>
                      </a:endParaRPr>
                    </a:p>
                  </a:txBody>
                  <a:tcPr marL="73152" marR="73152" marT="73152" marB="73152"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Pass ssl_ca explicitly; tests cover it</a:t>
                      </a:r>
                      <a:endParaRPr lang="en-US" sz="1300" dirty="0">
                        <a:latin typeface="Calibri" charset="0"/>
                        <a:ea typeface="Calibri" charset="0"/>
                        <a:cs typeface="Calibri" charset="0"/>
                      </a:endParaRPr>
                    </a:p>
                  </a:txBody>
                  <a:tcPr marL="73152" marR="73152" marT="73152" marB="73152"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566928">
                <a:tc>
                  <a:txBody>
                    <a:bodyPr/>
                    <a:lstStyle/>
                    <a:p>
                      <a:pPr indent="0" marL="0">
                        <a:buNone/>
                      </a:pPr>
                      <a:r>
                        <a:rPr lang="en-US" sz="1300" b="1" dirty="0">
                          <a:solidFill>
                            <a:srgbClr val="0F1B2D"/>
                          </a:solidFill>
                          <a:latin typeface="Calibri" pitchFamily="34" charset="0"/>
                          <a:ea typeface="Calibri" pitchFamily="34" charset="-122"/>
                          <a:cs typeface="Calibri" pitchFamily="34" charset="-120"/>
                        </a:rPr>
                        <a:t>RDS blocked the app's host</a:t>
                      </a:r>
                      <a:endParaRPr lang="en-US" sz="1300" dirty="0">
                        <a:latin typeface="Calibri" charset="0"/>
                        <a:ea typeface="Calibri" charset="0"/>
                        <a:cs typeface="Calibri" charset="0"/>
                      </a:endParaRPr>
                    </a:p>
                  </a:txBody>
                  <a:tcPr marL="73152" marR="73152" marT="73152" marB="73152"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Too many failed connections</a:t>
                      </a:r>
                      <a:endParaRPr lang="en-US" sz="1300" dirty="0">
                        <a:latin typeface="Calibri" charset="0"/>
                        <a:ea typeface="Calibri" charset="0"/>
                        <a:cs typeface="Calibri" charset="0"/>
                      </a:endParaRPr>
                    </a:p>
                  </a:txBody>
                  <a:tcPr marL="73152" marR="73152" marT="73152" marB="73152"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Tuned RDS parameters, automatic reboot, background DB retries</a:t>
                      </a:r>
                      <a:endParaRPr lang="en-US" sz="1300" dirty="0">
                        <a:latin typeface="Calibri" charset="0"/>
                        <a:ea typeface="Calibri" charset="0"/>
                        <a:cs typeface="Calibri" charset="0"/>
                      </a:endParaRPr>
                    </a:p>
                  </a:txBody>
                  <a:tcPr marL="73152" marR="73152" marT="73152" marB="73152"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r>
              <a:tr h="566928">
                <a:tc>
                  <a:txBody>
                    <a:bodyPr/>
                    <a:lstStyle/>
                    <a:p>
                      <a:pPr indent="0" marL="0">
                        <a:buNone/>
                      </a:pPr>
                      <a:r>
                        <a:rPr lang="en-US" sz="1300" b="1" dirty="0">
                          <a:solidFill>
                            <a:srgbClr val="0F1B2D"/>
                          </a:solidFill>
                          <a:latin typeface="Calibri" pitchFamily="34" charset="0"/>
                          <a:ea typeface="Calibri" pitchFamily="34" charset="-122"/>
                          <a:cs typeface="Calibri" pitchFamily="34" charset="-120"/>
                        </a:rPr>
                        <a:t>Trivy failed while baking AMIs</a:t>
                      </a:r>
                      <a:endParaRPr lang="en-US" sz="1300" dirty="0">
                        <a:latin typeface="Calibri" charset="0"/>
                        <a:ea typeface="Calibri" charset="0"/>
                        <a:cs typeface="Calibri" charset="0"/>
                      </a:endParaRPr>
                    </a:p>
                  </a:txBody>
                  <a:tcPr marL="73152" marR="73152" marT="73152" marB="73152"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/tmp is a small RAM disk; image has Java libraries</a:t>
                      </a:r>
                      <a:endParaRPr lang="en-US" sz="1300" dirty="0">
                        <a:latin typeface="Calibri" charset="0"/>
                        <a:ea typeface="Calibri" charset="0"/>
                        <a:cs typeface="Calibri" charset="0"/>
                      </a:endParaRPr>
                    </a:p>
                  </a:txBody>
                  <a:tcPr marL="73152" marR="73152" marT="73152" marB="73152"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Cache on disk + Java vulnerability database</a:t>
                      </a:r>
                      <a:endParaRPr lang="en-US" sz="1300" dirty="0">
                        <a:latin typeface="Calibri" charset="0"/>
                        <a:ea typeface="Calibri" charset="0"/>
                        <a:cs typeface="Calibri" charset="0"/>
                      </a:endParaRPr>
                    </a:p>
                  </a:txBody>
                  <a:tcPr marL="73152" marR="73152" marT="73152" marB="73152"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566928">
                <a:tc>
                  <a:txBody>
                    <a:bodyPr/>
                    <a:lstStyle/>
                    <a:p>
                      <a:pPr indent="0" marL="0">
                        <a:buNone/>
                      </a:pPr>
                      <a:r>
                        <a:rPr lang="en-US" sz="1300" b="1" dirty="0">
                          <a:solidFill>
                            <a:srgbClr val="0F1B2D"/>
                          </a:solidFill>
                          <a:latin typeface="Calibri" pitchFamily="34" charset="0"/>
                          <a:ea typeface="Calibri" pitchFamily="34" charset="-122"/>
                          <a:cs typeface="Calibri" pitchFamily="34" charset="-120"/>
                        </a:rPr>
                        <a:t>Checkov flagged a broad permission</a:t>
                      </a:r>
                      <a:endParaRPr lang="en-US" sz="1300" dirty="0">
                        <a:latin typeface="Calibri" charset="0"/>
                        <a:ea typeface="Calibri" charset="0"/>
                        <a:cs typeface="Calibri" charset="0"/>
                      </a:endParaRPr>
                    </a:p>
                  </a:txBody>
                  <a:tcPr marL="73152" marR="73152" marT="73152" marB="73152"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Lambda access not scoped</a:t>
                      </a:r>
                      <a:endParaRPr lang="en-US" sz="1300" dirty="0">
                        <a:latin typeface="Calibri" charset="0"/>
                        <a:ea typeface="Calibri" charset="0"/>
                        <a:cs typeface="Calibri" charset="0"/>
                      </a:endParaRPr>
                    </a:p>
                  </a:txBody>
                  <a:tcPr marL="73152" marR="73152" marT="73152" marB="73152"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Limited to the project's own functions</a:t>
                      </a:r>
                      <a:endParaRPr lang="en-US" sz="1300" dirty="0">
                        <a:latin typeface="Calibri" charset="0"/>
                        <a:ea typeface="Calibri" charset="0"/>
                        <a:cs typeface="Calibri" charset="0"/>
                      </a:endParaRPr>
                    </a:p>
                  </a:txBody>
                  <a:tcPr marL="73152" marR="73152" marT="73152" marB="73152"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r>
              <a:tr h="566928">
                <a:tc>
                  <a:txBody>
                    <a:bodyPr/>
                    <a:lstStyle/>
                    <a:p>
                      <a:pPr indent="0" marL="0">
                        <a:buNone/>
                      </a:pPr>
                      <a:r>
                        <a:rPr lang="en-US" sz="1300" b="1" dirty="0">
                          <a:solidFill>
                            <a:srgbClr val="0F1B2D"/>
                          </a:solidFill>
                          <a:latin typeface="Calibri" pitchFamily="34" charset="0"/>
                          <a:ea typeface="Calibri" pitchFamily="34" charset="-122"/>
                          <a:cs typeface="Calibri" pitchFamily="34" charset="-120"/>
                        </a:rPr>
                        <a:t>Interrupted deploy</a:t>
                      </a:r>
                      <a:endParaRPr lang="en-US" sz="1300" dirty="0">
                        <a:latin typeface="Calibri" charset="0"/>
                        <a:ea typeface="Calibri" charset="0"/>
                        <a:cs typeface="Calibri" charset="0"/>
                      </a:endParaRPr>
                    </a:p>
                  </a:txBody>
                  <a:tcPr marL="73152" marR="73152" marT="73152" marB="73152"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Stale state lock, half-created resources</a:t>
                      </a:r>
                      <a:endParaRPr lang="en-US" sz="1300" dirty="0">
                        <a:latin typeface="Calibri" charset="0"/>
                        <a:ea typeface="Calibri" charset="0"/>
                        <a:cs typeface="Calibri" charset="0"/>
                      </a:endParaRPr>
                    </a:p>
                  </a:txBody>
                  <a:tcPr marL="73152" marR="73152" marT="73152" marB="73152"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Safe recovery; Destroy fixed; runbook procedure</a:t>
                      </a:r>
                      <a:endParaRPr lang="en-US" sz="1300" dirty="0">
                        <a:latin typeface="Calibri" charset="0"/>
                        <a:ea typeface="Calibri" charset="0"/>
                        <a:cs typeface="Calibri" charset="0"/>
                      </a:endParaRPr>
                    </a:p>
                  </a:txBody>
                  <a:tcPr marL="73152" marR="73152" marT="73152" marB="73152"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3400" b="1" dirty="0">
                <a:solidFill>
                  <a:srgbClr val="0F1B2D"/>
                </a:solidFill>
                <a:latin typeface="Arial" pitchFamily="34" charset="0"/>
                <a:ea typeface="Arial" pitchFamily="34" charset="-122"/>
                <a:cs typeface="Arial" pitchFamily="34" charset="-120"/>
              </a:rPr>
              <a:t>Live demo</a:t>
            </a:r>
            <a:endParaRPr lang="en-US" sz="3400" dirty="0"/>
          </a:p>
        </p:txBody>
      </p:sp>
      <p:sp>
        <p:nvSpPr>
          <p:cNvPr id="3" name="Text 1"/>
          <p:cNvSpPr txBox="1"/>
          <p:nvPr/>
        </p:nvSpPr>
        <p:spPr>
          <a:xfrm>
            <a:off x="548640" y="1051560"/>
            <a:ext cx="11064240" cy="411480"/>
          </a:xfrm>
          <a:prstGeom prst="rect">
            <a:avLst/>
          </a:prstGeom>
          <a:noFill/>
          <a:ln/>
        </p:spPr>
        <p:txBody>
          <a:bodyPr wrap="square" lIns="0" tIns="0" rIns="0" bIns="0" rtlCol="0" anchor="ctr"/>
          <a:lstStyle/>
          <a:p>
            <a:pPr indent="0" marL="0">
              <a:buNone/>
            </a:pPr>
            <a:r>
              <a:rPr lang="en-US" sz="1600" dirty="0">
                <a:solidFill>
                  <a:srgbClr val="64748B"/>
                </a:solidFill>
                <a:latin typeface="Calibri" pitchFamily="34" charset="0"/>
                <a:ea typeface="Calibri" pitchFamily="34" charset="-122"/>
                <a:cs typeface="Calibri" pitchFamily="34" charset="-120"/>
              </a:rPr>
              <a:t>About five minutes</a:t>
            </a:r>
            <a:endParaRPr lang="en-US" sz="1600" dirty="0"/>
          </a:p>
        </p:txBody>
      </p:sp>
      <p:sp>
        <p:nvSpPr>
          <p:cNvPr id="4" name="Text 2"/>
          <p:cNvSpPr txBox="1"/>
          <p:nvPr/>
        </p:nvSpPr>
        <p:spPr>
          <a:xfrm>
            <a:off x="548640" y="1783080"/>
            <a:ext cx="685800" cy="685800"/>
          </a:xfrm>
          <a:prstGeom prst="ellipse">
            <a:avLst/>
          </a:prstGeom>
          <a:solidFill>
            <a:srgbClr val="F59E0B"/>
          </a:solid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1</a:t>
            </a:r>
            <a:endParaRPr lang="en-US" sz="2200" dirty="0"/>
          </a:p>
        </p:txBody>
      </p:sp>
      <p:sp>
        <p:nvSpPr>
          <p:cNvPr id="5" name="Text 3"/>
          <p:cNvSpPr txBox="1"/>
          <p:nvPr/>
        </p:nvSpPr>
        <p:spPr>
          <a:xfrm>
            <a:off x="1463040" y="1737360"/>
            <a:ext cx="5852160" cy="777240"/>
          </a:xfrm>
          <a:prstGeom prst="rect">
            <a:avLst/>
          </a:prstGeom>
          <a:noFill/>
          <a:ln/>
        </p:spPr>
        <p:txBody>
          <a:bodyPr wrap="square" lIns="0" tIns="0" rIns="0" bIns="0" rtlCol="0" anchor="ctr"/>
          <a:lstStyle/>
          <a:p>
            <a:pPr indent="0" marL="0">
              <a:buNone/>
            </a:pPr>
            <a:r>
              <a:rPr lang="en-US" sz="1800" b="1" dirty="0">
                <a:solidFill>
                  <a:srgbClr val="0F1B2D"/>
                </a:solidFill>
                <a:latin typeface="Calibri" pitchFamily="34" charset="0"/>
                <a:ea typeface="Calibri" pitchFamily="34" charset="-122"/>
                <a:cs typeface="Calibri" pitchFamily="34" charset="-120"/>
              </a:rPr>
              <a:t>Open a pull request</a:t>
            </a:r>
            <a:endParaRPr lang="en-US" sz="1800" dirty="0"/>
          </a:p>
          <a:p>
            <a:pPr indent="0" marL="0">
              <a:buNone/>
            </a:pPr>
            <a:r>
              <a:rPr lang="en-US" sz="1400" dirty="0">
                <a:solidFill>
                  <a:srgbClr val="1E293B"/>
                </a:solidFill>
                <a:latin typeface="Calibri" pitchFamily="34" charset="0"/>
                <a:ea typeface="Calibri" pitchFamily="34" charset="-122"/>
                <a:cs typeface="Calibri" pitchFamily="34" charset="-120"/>
              </a:rPr>
              <a:t>Small change; show the checks, the plan preview and the Manual approval</a:t>
            </a:r>
            <a:endParaRPr lang="en-US" sz="1800" dirty="0"/>
          </a:p>
        </p:txBody>
      </p:sp>
      <p:sp>
        <p:nvSpPr>
          <p:cNvPr id="6" name="Text 4"/>
          <p:cNvSpPr txBox="1"/>
          <p:nvPr/>
        </p:nvSpPr>
        <p:spPr>
          <a:xfrm>
            <a:off x="548640" y="2679192"/>
            <a:ext cx="685800" cy="685800"/>
          </a:xfrm>
          <a:prstGeom prst="ellipse">
            <a:avLst/>
          </a:prstGeom>
          <a:solidFill>
            <a:srgbClr val="0E9F8E"/>
          </a:solid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2</a:t>
            </a:r>
            <a:endParaRPr lang="en-US" sz="2200" dirty="0"/>
          </a:p>
        </p:txBody>
      </p:sp>
      <p:sp>
        <p:nvSpPr>
          <p:cNvPr id="7" name="Text 5"/>
          <p:cNvSpPr txBox="1"/>
          <p:nvPr/>
        </p:nvSpPr>
        <p:spPr>
          <a:xfrm>
            <a:off x="1463040" y="2633472"/>
            <a:ext cx="5852160" cy="777240"/>
          </a:xfrm>
          <a:prstGeom prst="rect">
            <a:avLst/>
          </a:prstGeom>
          <a:noFill/>
          <a:ln/>
        </p:spPr>
        <p:txBody>
          <a:bodyPr wrap="square" lIns="0" tIns="0" rIns="0" bIns="0" rtlCol="0" anchor="ctr"/>
          <a:lstStyle/>
          <a:p>
            <a:pPr indent="0" marL="0">
              <a:buNone/>
            </a:pPr>
            <a:r>
              <a:rPr lang="en-US" sz="1800" b="1" dirty="0">
                <a:solidFill>
                  <a:srgbClr val="0F1B2D"/>
                </a:solidFill>
                <a:latin typeface="Calibri" pitchFamily="34" charset="0"/>
                <a:ea typeface="Calibri" pitchFamily="34" charset="-122"/>
                <a:cs typeface="Calibri" pitchFamily="34" charset="-120"/>
              </a:rPr>
              <a:t>Merge it</a:t>
            </a:r>
            <a:endParaRPr lang="en-US" sz="1800" dirty="0"/>
          </a:p>
          <a:p>
            <a:pPr indent="0" marL="0">
              <a:buNone/>
            </a:pPr>
            <a:r>
              <a:rPr lang="en-US" sz="1400" dirty="0">
                <a:solidFill>
                  <a:srgbClr val="1E293B"/>
                </a:solidFill>
                <a:latin typeface="Calibri" pitchFamily="34" charset="0"/>
                <a:ea typeface="Calibri" pitchFamily="34" charset="-122"/>
                <a:cs typeface="Calibri" pitchFamily="34" charset="-120"/>
              </a:rPr>
              <a:t>Deploy EC2 runs: build, AMI scan, dev deploy, smoke tests</a:t>
            </a:r>
            <a:endParaRPr lang="en-US" sz="1800" dirty="0"/>
          </a:p>
        </p:txBody>
      </p:sp>
      <p:sp>
        <p:nvSpPr>
          <p:cNvPr id="8" name="Text 6"/>
          <p:cNvSpPr txBox="1"/>
          <p:nvPr/>
        </p:nvSpPr>
        <p:spPr>
          <a:xfrm>
            <a:off x="548640" y="3575304"/>
            <a:ext cx="685800" cy="685800"/>
          </a:xfrm>
          <a:prstGeom prst="ellipse">
            <a:avLst/>
          </a:prstGeom>
          <a:solidFill>
            <a:srgbClr val="F59E0B"/>
          </a:solid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3</a:t>
            </a:r>
            <a:endParaRPr lang="en-US" sz="2200" dirty="0"/>
          </a:p>
        </p:txBody>
      </p:sp>
      <p:sp>
        <p:nvSpPr>
          <p:cNvPr id="9" name="Text 7"/>
          <p:cNvSpPr txBox="1"/>
          <p:nvPr/>
        </p:nvSpPr>
        <p:spPr>
          <a:xfrm>
            <a:off x="1463040" y="3529584"/>
            <a:ext cx="5852160" cy="777240"/>
          </a:xfrm>
          <a:prstGeom prst="rect">
            <a:avLst/>
          </a:prstGeom>
          <a:noFill/>
          <a:ln/>
        </p:spPr>
        <p:txBody>
          <a:bodyPr wrap="square" lIns="0" tIns="0" rIns="0" bIns="0" rtlCol="0" anchor="ctr"/>
          <a:lstStyle/>
          <a:p>
            <a:pPr indent="0" marL="0">
              <a:buNone/>
            </a:pPr>
            <a:r>
              <a:rPr lang="en-US" sz="1800" b="1" dirty="0">
                <a:solidFill>
                  <a:srgbClr val="0F1B2D"/>
                </a:solidFill>
                <a:latin typeface="Calibri" pitchFamily="34" charset="0"/>
                <a:ea typeface="Calibri" pitchFamily="34" charset="-122"/>
                <a:cs typeface="Calibri" pitchFamily="34" charset="-120"/>
              </a:rPr>
              <a:t>Show Slack</a:t>
            </a:r>
            <a:endParaRPr lang="en-US" sz="1800" dirty="0"/>
          </a:p>
          <a:p>
            <a:pPr indent="0" marL="0">
              <a:buNone/>
            </a:pPr>
            <a:r>
              <a:rPr lang="en-US" sz="1400" dirty="0">
                <a:solidFill>
                  <a:srgbClr val="1E293B"/>
                </a:solidFill>
                <a:latin typeface="Calibri" pitchFamily="34" charset="0"/>
                <a:ea typeface="Calibri" pitchFamily="34" charset="-122"/>
                <a:cs typeface="Calibri" pitchFamily="34" charset="-120"/>
              </a:rPr>
              <a:t>Deploy messages and prod waiting for approval</a:t>
            </a:r>
            <a:endParaRPr lang="en-US" sz="1800" dirty="0"/>
          </a:p>
        </p:txBody>
      </p:sp>
      <p:sp>
        <p:nvSpPr>
          <p:cNvPr id="10" name="Text 8"/>
          <p:cNvSpPr txBox="1"/>
          <p:nvPr/>
        </p:nvSpPr>
        <p:spPr>
          <a:xfrm>
            <a:off x="548640" y="4471416"/>
            <a:ext cx="685800" cy="685800"/>
          </a:xfrm>
          <a:prstGeom prst="ellipse">
            <a:avLst/>
          </a:prstGeom>
          <a:solidFill>
            <a:srgbClr val="0E9F8E"/>
          </a:solid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4</a:t>
            </a:r>
            <a:endParaRPr lang="en-US" sz="2200" dirty="0"/>
          </a:p>
        </p:txBody>
      </p:sp>
      <p:sp>
        <p:nvSpPr>
          <p:cNvPr id="11" name="Text 9"/>
          <p:cNvSpPr txBox="1"/>
          <p:nvPr/>
        </p:nvSpPr>
        <p:spPr>
          <a:xfrm>
            <a:off x="1463040" y="4425696"/>
            <a:ext cx="5852160" cy="777240"/>
          </a:xfrm>
          <a:prstGeom prst="rect">
            <a:avLst/>
          </a:prstGeom>
          <a:noFill/>
          <a:ln/>
        </p:spPr>
        <p:txBody>
          <a:bodyPr wrap="square" lIns="0" tIns="0" rIns="0" bIns="0" rtlCol="0" anchor="ctr"/>
          <a:lstStyle/>
          <a:p>
            <a:pPr indent="0" marL="0">
              <a:buNone/>
            </a:pPr>
            <a:r>
              <a:rPr lang="en-US" sz="1800" b="1" dirty="0">
                <a:solidFill>
                  <a:srgbClr val="0F1B2D"/>
                </a:solidFill>
                <a:latin typeface="Calibri" pitchFamily="34" charset="0"/>
                <a:ea typeface="Calibri" pitchFamily="34" charset="-122"/>
                <a:cs typeface="Calibri" pitchFamily="34" charset="-120"/>
              </a:rPr>
              <a:t>Open the app</a:t>
            </a:r>
            <a:endParaRPr lang="en-US" sz="1800" dirty="0"/>
          </a:p>
          <a:p>
            <a:pPr indent="0" marL="0">
              <a:buNone/>
            </a:pPr>
            <a:r>
              <a:rPr lang="en-US" sz="1400" dirty="0">
                <a:solidFill>
                  <a:srgbClr val="1E293B"/>
                </a:solidFill>
                <a:latin typeface="Calibri" pitchFamily="34" charset="0"/>
                <a:ea typeface="Calibri" pitchFamily="34" charset="-122"/>
                <a:cs typeface="Calibri" pitchFamily="34" charset="-120"/>
              </a:rPr>
              <a:t>The change is live in dev</a:t>
            </a:r>
            <a:endParaRPr lang="en-US" sz="1800" dirty="0"/>
          </a:p>
        </p:txBody>
      </p:sp>
      <p:sp>
        <p:nvSpPr>
          <p:cNvPr id="12" name="Text 10"/>
          <p:cNvSpPr txBox="1"/>
          <p:nvPr/>
        </p:nvSpPr>
        <p:spPr>
          <a:xfrm>
            <a:off x="548640" y="5367528"/>
            <a:ext cx="685800" cy="685800"/>
          </a:xfrm>
          <a:prstGeom prst="ellipse">
            <a:avLst/>
          </a:prstGeom>
          <a:solidFill>
            <a:srgbClr val="F59E0B"/>
          </a:solid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5</a:t>
            </a:r>
            <a:endParaRPr lang="en-US" sz="2200" dirty="0"/>
          </a:p>
        </p:txBody>
      </p:sp>
      <p:sp>
        <p:nvSpPr>
          <p:cNvPr id="13" name="Text 11"/>
          <p:cNvSpPr txBox="1"/>
          <p:nvPr/>
        </p:nvSpPr>
        <p:spPr>
          <a:xfrm>
            <a:off x="1463040" y="5321808"/>
            <a:ext cx="5852160" cy="777240"/>
          </a:xfrm>
          <a:prstGeom prst="rect">
            <a:avLst/>
          </a:prstGeom>
          <a:noFill/>
          <a:ln/>
        </p:spPr>
        <p:txBody>
          <a:bodyPr wrap="square" lIns="0" tIns="0" rIns="0" bIns="0" rtlCol="0" anchor="ctr"/>
          <a:lstStyle/>
          <a:p>
            <a:pPr indent="0" marL="0">
              <a:buNone/>
            </a:pPr>
            <a:r>
              <a:rPr lang="en-US" sz="1800" b="1" dirty="0">
                <a:solidFill>
                  <a:srgbClr val="0F1B2D"/>
                </a:solidFill>
                <a:latin typeface="Calibri" pitchFamily="34" charset="0"/>
                <a:ea typeface="Calibri" pitchFamily="34" charset="-122"/>
                <a:cs typeface="Calibri" pitchFamily="34" charset="-120"/>
              </a:rPr>
              <a:t>Safety nets</a:t>
            </a:r>
            <a:endParaRPr lang="en-US" sz="1800" dirty="0"/>
          </a:p>
          <a:p>
            <a:pPr indent="0" marL="0">
              <a:buNone/>
            </a:pPr>
            <a:r>
              <a:rPr lang="en-US" sz="1400" dirty="0">
                <a:solidFill>
                  <a:srgbClr val="1E293B"/>
                </a:solidFill>
                <a:latin typeface="Calibri" pitchFamily="34" charset="0"/>
                <a:ea typeface="Calibri" pitchFamily="34" charset="-122"/>
                <a:cs typeface="Calibri" pitchFamily="34" charset="-120"/>
              </a:rPr>
              <a:t>Automatic rollback, destroy guard, drift check</a:t>
            </a:r>
            <a:endParaRPr lang="en-US" sz="1800" dirty="0"/>
          </a:p>
        </p:txBody>
      </p:sp>
      <p:sp>
        <p:nvSpPr>
          <p:cNvPr id="14" name="Shape 12"/>
          <p:cNvSpPr/>
          <p:nvPr/>
        </p:nvSpPr>
        <p:spPr>
          <a:xfrm>
            <a:off x="8503920" y="2194560"/>
            <a:ext cx="2377440" cy="2377440"/>
          </a:xfrm>
          <a:prstGeom prst="ellipse">
            <a:avLst/>
          </a:prstGeom>
          <a:solidFill>
            <a:srgbClr val="0F1B2D"/>
          </a:solidFill>
          <a:ln w="12700">
            <a:solidFill>
              <a:srgbClr val="0F1B2D"/>
            </a:solidFill>
            <a:prstDash val="solid"/>
          </a:ln>
        </p:spPr>
      </p:sp>
      <p:pic>
        <p:nvPicPr>
          <p:cNvPr id="15" name="Image 0" descr="preencoded.png">    </p:cNvPr>
          <p:cNvPicPr>
            <a:picLocks noChangeAspect="1"/>
          </p:cNvPicPr>
          <p:nvPr/>
        </p:nvPicPr>
        <p:blipFill>
          <a:blip r:embed="rId1"/>
          <a:stretch>
            <a:fillRect/>
          </a:stretch>
        </p:blipFill>
        <p:spPr>
          <a:xfrm>
            <a:off x="9098280" y="2788920"/>
            <a:ext cx="1188720" cy="1188720"/>
          </a:xfrm>
          <a:prstGeom prst="rect">
            <a:avLst/>
          </a:prstGeom>
        </p:spPr>
      </p:pic>
      <p:sp>
        <p:nvSpPr>
          <p:cNvPr id="16" name="Text 13"/>
          <p:cNvSpPr txBox="1"/>
          <p:nvPr/>
        </p:nvSpPr>
        <p:spPr>
          <a:xfrm>
            <a:off x="7589520" y="4846320"/>
            <a:ext cx="4206240" cy="457200"/>
          </a:xfrm>
          <a:prstGeom prst="rect">
            <a:avLst/>
          </a:prstGeom>
          <a:noFill/>
          <a:ln/>
        </p:spPr>
        <p:txBody>
          <a:bodyPr wrap="square" lIns="0" tIns="0" rIns="0" bIns="0" rtlCol="0" anchor="ctr"/>
          <a:lstStyle/>
          <a:p>
            <a:pPr algn="ctr" indent="0" marL="0">
              <a:buNone/>
            </a:pPr>
            <a:r>
              <a:rPr lang="en-US" sz="1600" b="1" dirty="0">
                <a:solidFill>
                  <a:srgbClr val="0F1B2D"/>
                </a:solidFill>
                <a:latin typeface="Calibri" pitchFamily="34" charset="0"/>
                <a:ea typeface="Calibri" pitchFamily="34" charset="-122"/>
                <a:cs typeface="Calibri" pitchFamily="34" charset="-120"/>
              </a:rPr>
              <a:t>github.com/ngems1/3tier-app</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B2D"/>
        </a:solidFill>
      </p:bgPr>
    </p:bg>
    <p:spTree>
      <p:nvGrpSpPr>
        <p:cNvPr id="1" name=""/>
        <p:cNvGrpSpPr/>
        <p:nvPr/>
      </p:nvGrpSpPr>
      <p:grpSpPr>
        <a:xfrm>
          <a:off x="0" y="0"/>
          <a:ext cx="0" cy="0"/>
          <a:chOff x="0" y="0"/>
          <a:chExt cx="0" cy="0"/>
        </a:xfrm>
      </p:grpSpPr>
      <p:sp>
        <p:nvSpPr>
          <p:cNvPr id="2" name="Text 0"/>
          <p:cNvSpPr txBox="1"/>
          <p:nvPr/>
        </p:nvSpPr>
        <p:spPr>
          <a:xfrm>
            <a:off x="640080" y="640080"/>
            <a:ext cx="5486400" cy="73152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What's next</a:t>
            </a:r>
            <a:endParaRPr lang="en-US" sz="3400" dirty="0"/>
          </a:p>
        </p:txBody>
      </p:sp>
      <p:sp>
        <p:nvSpPr>
          <p:cNvPr id="3" name="Text 1"/>
          <p:cNvSpPr txBox="1"/>
          <p:nvPr/>
        </p:nvSpPr>
        <p:spPr>
          <a:xfrm>
            <a:off x="640080" y="1554480"/>
            <a:ext cx="5669280" cy="3840480"/>
          </a:xfrm>
          <a:prstGeom prst="rect">
            <a:avLst/>
          </a:prstGeom>
          <a:noFill/>
          <a:ln/>
        </p:spPr>
        <p:txBody>
          <a:bodyPr wrap="square" lIns="0" tIns="0" rIns="0" bIns="0" rtlCol="0" anchor="t"/>
          <a:lstStyle/>
          <a:p>
            <a:pPr marL="342900" indent="-342900">
              <a:spcAft>
                <a:spcPts val="1400"/>
              </a:spcAft>
              <a:buSzPct val="100000"/>
              <a:buChar char="•"/>
            </a:pPr>
            <a:r>
              <a:rPr lang="en-US" sz="1800" dirty="0">
                <a:solidFill>
                  <a:srgbClr val="E2E8F0"/>
                </a:solidFill>
                <a:latin typeface="Calibri" pitchFamily="34" charset="0"/>
                <a:ea typeface="Calibri" pitchFamily="34" charset="-122"/>
                <a:cs typeface="Calibri" pitchFamily="34" charset="-120"/>
              </a:rPr>
              <a:t>Pin GitHub Actions to commit SHAs + Dependabot</a:t>
            </a:r>
            <a:endParaRPr lang="en-US" sz="1800" dirty="0"/>
          </a:p>
          <a:p>
            <a:pPr marL="342900" indent="-342900">
              <a:spcAft>
                <a:spcPts val="1400"/>
              </a:spcAft>
              <a:buSzPct val="100000"/>
              <a:buChar char="•"/>
            </a:pPr>
            <a:r>
              <a:rPr lang="en-US" sz="1800" dirty="0">
                <a:solidFill>
                  <a:srgbClr val="E2E8F0"/>
                </a:solidFill>
                <a:latin typeface="Calibri" pitchFamily="34" charset="0"/>
                <a:ea typeface="Calibri" pitchFamily="34" charset="-122"/>
                <a:cs typeface="Calibri" pitchFamily="34" charset="-120"/>
              </a:rPr>
              <a:t>AWS Budgets alert</a:t>
            </a:r>
            <a:endParaRPr lang="en-US" sz="1800" dirty="0"/>
          </a:p>
          <a:p>
            <a:pPr marL="342900" indent="-342900">
              <a:spcAft>
                <a:spcPts val="1400"/>
              </a:spcAft>
              <a:buSzPct val="100000"/>
              <a:buChar char="•"/>
            </a:pPr>
            <a:r>
              <a:rPr lang="en-US" sz="1800" dirty="0">
                <a:solidFill>
                  <a:srgbClr val="E2E8F0"/>
                </a:solidFill>
                <a:latin typeface="Calibri" pitchFamily="34" charset="0"/>
                <a:ea typeface="Calibri" pitchFamily="34" charset="-122"/>
                <a:cs typeface="Calibri" pitchFamily="34" charset="-120"/>
              </a:rPr>
              <a:t>Uptime checks (CloudWatch Synthetics)</a:t>
            </a:r>
            <a:endParaRPr lang="en-US" sz="1800" dirty="0"/>
          </a:p>
          <a:p>
            <a:pPr marL="342900" indent="-342900">
              <a:spcAft>
                <a:spcPts val="1400"/>
              </a:spcAft>
              <a:buSzPct val="100000"/>
              <a:buChar char="•"/>
            </a:pPr>
            <a:r>
              <a:rPr lang="en-US" sz="1800" dirty="0">
                <a:solidFill>
                  <a:srgbClr val="E2E8F0"/>
                </a:solidFill>
                <a:latin typeface="Calibri" pitchFamily="34" charset="0"/>
                <a:ea typeface="Calibri" pitchFamily="34" charset="-122"/>
                <a:cs typeface="Calibri" pitchFamily="34" charset="-120"/>
              </a:rPr>
              <a:t>Stop dev at night to cut costs</a:t>
            </a:r>
            <a:endParaRPr lang="en-US" sz="1800" dirty="0"/>
          </a:p>
          <a:p>
            <a:pPr marL="342900" indent="-342900">
              <a:spcAft>
                <a:spcPts val="1400"/>
              </a:spcAft>
              <a:buSzPct val="100000"/>
              <a:buChar char="•"/>
            </a:pPr>
            <a:r>
              <a:rPr lang="en-US" sz="1800" dirty="0">
                <a:solidFill>
                  <a:srgbClr val="E2E8F0"/>
                </a:solidFill>
                <a:latin typeface="Calibri" pitchFamily="34" charset="0"/>
                <a:ea typeface="Calibri" pitchFamily="34" charset="-122"/>
                <a:cs typeface="Calibri" pitchFamily="34" charset="-120"/>
              </a:rPr>
              <a:t>Blue/green or canary deployments</a:t>
            </a:r>
            <a:endParaRPr lang="en-US" sz="1800" dirty="0"/>
          </a:p>
          <a:p>
            <a:pPr marL="342900" indent="-342900">
              <a:spcAft>
                <a:spcPts val="1400"/>
              </a:spcAft>
              <a:buSzPct val="100000"/>
              <a:buChar char="•"/>
            </a:pPr>
            <a:r>
              <a:rPr lang="en-US" sz="1800" dirty="0">
                <a:solidFill>
                  <a:srgbClr val="E2E8F0"/>
                </a:solidFill>
                <a:latin typeface="Calibri" pitchFamily="34" charset="0"/>
                <a:ea typeface="Calibri" pitchFamily="34" charset="-122"/>
                <a:cs typeface="Calibri" pitchFamily="34" charset="-120"/>
              </a:rPr>
              <a:t>Database migrations with Alembic</a:t>
            </a:r>
            <a:endParaRPr lang="en-US" sz="1800" dirty="0"/>
          </a:p>
        </p:txBody>
      </p:sp>
      <p:sp>
        <p:nvSpPr>
          <p:cNvPr id="4" name="Shape 2"/>
          <p:cNvSpPr/>
          <p:nvPr/>
        </p:nvSpPr>
        <p:spPr>
          <a:xfrm>
            <a:off x="6949440" y="1371600"/>
            <a:ext cx="4572000" cy="4114800"/>
          </a:xfrm>
          <a:prstGeom prst="roundRect">
            <a:avLst>
              <a:gd name="adj" fmla="val 3333"/>
            </a:avLst>
          </a:prstGeom>
          <a:solidFill>
            <a:srgbClr val="1B2A41"/>
          </a:solidFill>
          <a:ln w="12700">
            <a:solidFill>
              <a:srgbClr val="1B2A41"/>
            </a:solidFill>
            <a:prstDash val="solid"/>
          </a:ln>
        </p:spPr>
      </p:sp>
      <p:sp>
        <p:nvSpPr>
          <p:cNvPr id="5" name="Text 3"/>
          <p:cNvSpPr txBox="1"/>
          <p:nvPr/>
        </p:nvSpPr>
        <p:spPr>
          <a:xfrm>
            <a:off x="6949440" y="2011680"/>
            <a:ext cx="4572000" cy="914400"/>
          </a:xfrm>
          <a:prstGeom prst="rect">
            <a:avLst/>
          </a:prstGeom>
          <a:noFill/>
          <a:ln/>
        </p:spPr>
        <p:txBody>
          <a:bodyPr wrap="square" lIns="0" tIns="0" rIns="0" bIns="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Thank you</a:t>
            </a:r>
            <a:endParaRPr lang="en-US" sz="4000" dirty="0"/>
          </a:p>
        </p:txBody>
      </p:sp>
      <p:sp>
        <p:nvSpPr>
          <p:cNvPr id="6" name="Text 4"/>
          <p:cNvSpPr txBox="1"/>
          <p:nvPr/>
        </p:nvSpPr>
        <p:spPr>
          <a:xfrm>
            <a:off x="6949440" y="2926080"/>
            <a:ext cx="4572000" cy="548640"/>
          </a:xfrm>
          <a:prstGeom prst="rect">
            <a:avLst/>
          </a:prstGeom>
          <a:noFill/>
          <a:ln/>
        </p:spPr>
        <p:txBody>
          <a:bodyPr wrap="square" lIns="0" tIns="0" rIns="0" bIns="0" rtlCol="0" anchor="ctr"/>
          <a:lstStyle/>
          <a:p>
            <a:pPr algn="ctr" indent="0" marL="0">
              <a:buNone/>
            </a:pPr>
            <a:r>
              <a:rPr lang="en-US" sz="2400" i="1" dirty="0">
                <a:solidFill>
                  <a:srgbClr val="F59E0B"/>
                </a:solidFill>
                <a:latin typeface="Calibri" pitchFamily="34" charset="0"/>
                <a:ea typeface="Calibri" pitchFamily="34" charset="-122"/>
                <a:cs typeface="Calibri" pitchFamily="34" charset="-120"/>
              </a:rPr>
              <a:t>Questions?</a:t>
            </a:r>
            <a:endParaRPr lang="en-US" sz="2400" dirty="0"/>
          </a:p>
        </p:txBody>
      </p:sp>
      <p:sp>
        <p:nvSpPr>
          <p:cNvPr id="7" name="Text 5"/>
          <p:cNvSpPr txBox="1"/>
          <p:nvPr/>
        </p:nvSpPr>
        <p:spPr>
          <a:xfrm>
            <a:off x="6949440" y="3931920"/>
            <a:ext cx="4572000" cy="914400"/>
          </a:xfrm>
          <a:prstGeom prst="rect">
            <a:avLst/>
          </a:prstGeom>
          <a:noFill/>
          <a:ln/>
        </p:spPr>
        <p:txBody>
          <a:bodyPr wrap="square" lIns="0" tIns="0" rIns="0" bIns="0" rtlCol="0" anchor="ctr"/>
          <a:lstStyle/>
          <a:p>
            <a:pPr algn="ctr" indent="0" marL="0">
              <a:buNone/>
            </a:pPr>
            <a:r>
              <a:rPr lang="en-US" sz="1600" b="1" dirty="0">
                <a:solidFill>
                  <a:srgbClr val="CBD5E1"/>
                </a:solidFill>
                <a:latin typeface="Calibri" pitchFamily="34" charset="0"/>
                <a:ea typeface="Calibri" pitchFamily="34" charset="-122"/>
                <a:cs typeface="Calibri" pitchFamily="34" charset="-120"/>
              </a:rPr>
              <a:t>Sebastien Ngembou</a:t>
            </a:r>
            <a:endParaRPr lang="en-US" sz="1600" dirty="0"/>
          </a:p>
          <a:p>
            <a:pPr algn="ctr" indent="0" marL="0">
              <a:buNone/>
            </a:pPr>
            <a:r>
              <a:rPr lang="en-US" sz="1600" dirty="0">
                <a:solidFill>
                  <a:srgbClr val="CBD5E1"/>
                </a:solidFill>
                <a:latin typeface="Calibri" pitchFamily="34" charset="0"/>
                <a:ea typeface="Calibri" pitchFamily="34" charset="-122"/>
                <a:cs typeface="Calibri" pitchFamily="34" charset="-120"/>
              </a:rPr>
              <a:t>github.com/ngems1</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AWS 3-Tier Tasks App — EC2 and ECS</dc:title>
  <dc:subject>PptxGenJS Presentation</dc:subject>
  <dc:creator>Sebastien Ngembou</dc:creator>
  <cp:lastModifiedBy>Sebastien Ngembou</cp:lastModifiedBy>
  <cp:revision>1</cp:revision>
  <dcterms:created xsi:type="dcterms:W3CDTF">2026-09-27T21:55:04Z</dcterms:created>
  <dcterms:modified xsi:type="dcterms:W3CDTF">2026-09-27T21:55:04Z</dcterms:modified>
</cp:coreProperties>
</file>